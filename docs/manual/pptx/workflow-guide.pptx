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탭별 사용 순서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C3CBD3"/>
                </a:solidFill>
                <a:latin typeface="Malgun Gothic"/>
              </a:rPr>
              <a:t>Segmentation Model UI — 학습·추론·Top/Bottom 분석·R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06240"/>
            <a:ext cx="3017520" cy="502920"/>
          </a:xfrm>
          <a:prstGeom prst="roundRect">
            <a:avLst>
              <a:gd name="adj" fmla="val 50000"/>
            </a:avLst>
          </a:prstGeom>
          <a:solidFill>
            <a:srgbClr val="1F3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793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main: 학습 · 추론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206240"/>
            <a:ext cx="3840480" cy="502920"/>
          </a:xfrm>
          <a:prstGeom prst="roundRect">
            <a:avLst>
              <a:gd name="adj" fmla="val 50000"/>
            </a:avLst>
          </a:prstGeom>
          <a:solidFill>
            <a:srgbClr val="1F3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427939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edition: Top/Bottom 분석 · R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3AB"/>
                </a:solidFill>
                <a:latin typeface="Malgun Gothic"/>
              </a:rPr>
              <a:t>실제 버튼 클릭 순서 · 분기(결정 지점) 도식화 · 탭별 추천 파라미터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1. 학습 탭 (main)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핵심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A7179"/>
                </a:solidFill>
                <a:latin typeface="Malgun Gothic"/>
              </a:rPr>
              <a:t>모델 탭에서 코드 검증·로드가 먼저 끝나 있어야 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927" y="20574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92527" y="20574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모델 탭에서 코드 검증(AST) → 로드 완료 확인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7831" y="25877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3927" y="2971800"/>
            <a:ext cx="7863840" cy="6583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2527" y="2971800"/>
            <a:ext cx="7406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학습 탭 진입 — 샘플링 · 배치 · LR · Optimizer · Scheduler 설정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67831" y="3739896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3927" y="4123944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92527" y="4123944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작업 이름 입력 → "큐에 추가" (비교할 설정 있으면 반복)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67831" y="4654296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163927" y="5038344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92527" y="5038344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"모두 실행" 클릭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67831" y="5568696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63927" y="5952744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FFF7EC"/>
          </a:solidFill>
          <a:ln w="15875">
            <a:solidFill>
              <a:srgbClr val="E0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28519" y="6025896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A5A12"/>
                </a:solidFill>
                <a:latin typeface="Malgun Gothic"/>
              </a:rPr>
              <a:t>분기 — GPU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8519" y="6281928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CPU로 진행 확인 팝업 → CPU로 진행 / 취소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5952744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AF7EF"/>
          </a:solidFill>
          <a:ln w="15875">
            <a:solidFill>
              <a:srgbClr val="3F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5303" y="6025896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5C38"/>
                </a:solidFill>
                <a:latin typeface="Malgun Gothic"/>
              </a:rPr>
              <a:t>분기 — GPU 있음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5303" y="6281928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바로 학습 시작 (진행 팝업 + 손실 그래프)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67831" y="702259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63927" y="740664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92527" y="740664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에폭마다 진행률·손실·IoU 갱신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67831" y="793699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63927" y="832104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FFF7EC"/>
          </a:solidFill>
          <a:ln w="15875">
            <a:solidFill>
              <a:srgbClr val="E0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8519" y="839419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A5A12"/>
                </a:solidFill>
                <a:latin typeface="Malgun Gothic"/>
              </a:rPr>
              <a:t>분기 — 중지 클릭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8519" y="865022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Yes(전체중지) / No(현재작업만중지) / Cancel(계속)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0711" y="832104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AF7EF"/>
          </a:solidFill>
          <a:ln w="15875">
            <a:solidFill>
              <a:srgbClr val="3F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5303" y="839419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5C38"/>
                </a:solidFill>
                <a:latin typeface="Malgun Gothic"/>
              </a:rPr>
              <a:t>정상 — 계속 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5303" y="865022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설정한 에폭까지 자동 진행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67831" y="939088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63927" y="9774936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92527" y="9774936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체크포인트 저장 + "모든 학습 완료"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1. 학습 탭 (main)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화면 — 설정 → 진행 → 완료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학습탭_하이퍼파라미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91517"/>
            <a:ext cx="3301898" cy="206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하이퍼파라미터 설정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4898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학습탭_진행중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4898" y="2991517"/>
            <a:ext cx="3301898" cy="20636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44898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학습 진행 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6836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0_학습탭_완료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6836" y="2991517"/>
            <a:ext cx="3301898" cy="20636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66836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학습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1. 학습 탭 (main)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추천 파라미터 / 설정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156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432"/>
                <a:gridCol w="1472184"/>
                <a:gridCol w="6729984"/>
              </a:tblGrid>
              <a:tr h="53721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추천값 / 가이드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이미지 샘플링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random_crop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대형 원본 → random_crop, 소형/테스트 → resize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베이스라인 탐색 20~50, 본 학습 100+ (Early stopping/Plateau 병행)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GPU 메모리에 맞춰 4~16, OOM 시 절반으로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Learning Rate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Adam/AdamW 1e-4~3e-4, SGD는 1e-2~1e-3 + momentum 0.9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DataLoader Workers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상한 2 권장 — Windows 3~4는 OSError/MemoryError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LR Scheduler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ReduceLROnPlateau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자동·범용(기본) / 표준 UNet은 CosineAnnealingLR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Mixed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켜짐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GPU 메모리 ~50% 절약, CC&lt;7.0 GPU는 자동 비활성화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AB"/>
                </a:solidFill>
                <a:latin typeface="Malgun Gothic"/>
              </a:rPr>
              <a:t>전체 표는 workflow-guide.md "1. 학습 탭" 절 참고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2. 추론 탭 (main)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핵심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A7179"/>
                </a:solidFill>
                <a:latin typeface="Malgun Gothic"/>
              </a:rPr>
              <a:t>체크포인트 선택 → 이미지 → 추론 → 결과 조정 → 내보내기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927" y="20574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92527" y="20574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체크포인트 선택 (표 클릭, 최근 항목 자동 선택)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7831" y="25877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3927" y="29718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2527" y="29718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파일 선택 또는 폴더 선택 (1장 / 2장 이상)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67831" y="35021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3927" y="38862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92527" y="38862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추론 옵션 조정(방식·오버랩·최소점수·최소픽셀) → ▶ 추론 실행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67831" y="44165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163927" y="48006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92527" y="48006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오버레이 결과 확인 — 범례 · blob 수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67831" y="53309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63927" y="571500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EF5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28519" y="578815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4E89"/>
                </a:solidFill>
                <a:latin typeface="Malgun Gothic"/>
              </a:rPr>
              <a:t>분기 — 결과 재조정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8519" y="60441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불투명도 / 최소점수·픽셀 변경 → 재추론 없이 즉시 반영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571500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AF7EF"/>
          </a:solidFill>
          <a:ln w="15875">
            <a:solidFill>
              <a:srgbClr val="3F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5303" y="578815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5C38"/>
                </a:solidFill>
                <a:latin typeface="Malgun Gothic"/>
              </a:rPr>
              <a:t>분기 — 폴더 모드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5303" y="60441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이전/다음 탐색 → 이미 추론된 결과 즉시 표시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67831" y="67848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63927" y="7168896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92527" y="7168896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Excel로 내보내기 클릭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67831" y="76992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63927" y="8083296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FFF7EC"/>
          </a:solidFill>
          <a:ln w="15875">
            <a:solidFill>
              <a:srgbClr val="E0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8519" y="8156448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A5A12"/>
                </a:solidFill>
                <a:latin typeface="Malgun Gothic"/>
              </a:rPr>
              <a:t>현재 이미지만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8519" y="8412480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선택된 이미지 blob만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0711" y="8083296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AF7EF"/>
          </a:solidFill>
          <a:ln w="15875">
            <a:solidFill>
              <a:srgbClr val="3F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5303" y="8156448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5C38"/>
                </a:solidFill>
                <a:latin typeface="Malgun Gothic"/>
              </a:rPr>
              <a:t>목록 전체 일괄 추론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5303" y="8412480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전체 이미지 순차 재추론 후 모두 저장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2. 추론 탭 (main)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화면 — 선택 → 결과 → 내보내기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이미지_폴더_선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91517"/>
            <a:ext cx="3301898" cy="206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이미지/폴더 선택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4898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오버레이_결과_확인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4898" y="2991517"/>
            <a:ext cx="3301898" cy="20636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44898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오버레이 결과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6836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0_엑셀내보내기_완료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6836" y="3527062"/>
            <a:ext cx="3301898" cy="9925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66836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Excel 내보내기 완료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2. 추론 탭 (main)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추천 파라미터 / 설정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1560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432"/>
                <a:gridCol w="1472184"/>
                <a:gridCol w="6729984"/>
              </a:tblGrid>
              <a:tr h="56692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실무 권장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추론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resize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대부분 유지, 패치학습/고해상도 경계 중요하면 sliding_window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오버랩(sliding_window)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64px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기본 유지 또는 patch_size의 10~25%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최소 AI 점수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실데이터는 40~60%부터 조정, 80%+ 는 실결함 누락 위험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최소 픽셀 크기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0px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예상 최소 결함 크기의 절반 정도로 시작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오버레이 불투명도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평상시 50%, 경계확인 70~90%, 원본질감 20~30%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AB"/>
                </a:solidFill>
                <a:latin typeface="Malgun Gothic"/>
              </a:rPr>
              <a:t>전체 표는 workflow-guide.md "2. 추론 탭" 절 참고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3. Top/Bottom Analysis (edition)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핵심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A7179"/>
                </a:solidFill>
                <a:latin typeface="Malgun Gothic"/>
              </a:rPr>
              <a:t>① 체크포인트 → ② 이미지 → ③ 영역 → ④ 추론 → ⑥ 보정 → ⑦ 분석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927" y="20574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92527" y="20574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① 체크포인트 열기 → ② 이미지/배치 불러오기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7831" y="25877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3927" y="29718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2527" y="29718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③ 영역(Zone) 설정 — 자동 검출(민감도 슬라이더)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67831" y="35021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3927" y="388620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FFF7EC"/>
          </a:solidFill>
          <a:ln w="15875">
            <a:solidFill>
              <a:srgbClr val="E0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28519" y="395935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A5A12"/>
                </a:solidFill>
                <a:latin typeface="Malgun Gothic"/>
              </a:rPr>
              <a:t>분기 — 검출 실패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8519" y="42153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민감도 조절 또는 캔버스 클릭+드래그로 수동 원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0711" y="388620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AF7EF"/>
          </a:solidFill>
          <a:ln w="15875">
            <a:solidFill>
              <a:srgbClr val="3F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303" y="395935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5C38"/>
                </a:solidFill>
                <a:latin typeface="Malgun Gothic"/>
              </a:rPr>
              <a:t>분기 — 검출 성공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42153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동심원 자동 생성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67831" y="49560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163927" y="5340096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92527" y="5340096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④ ▶ 추론 실행 (GPU 없으면 CPU 진행 확인 팝업)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67831" y="58704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63927" y="6254496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92527" y="6254496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⑥ 결과 보정 — 브러시 그리기 / 지우기 / 블랍 삭제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67831" y="67848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63927" y="7168896"/>
            <a:ext cx="7863840" cy="960120"/>
          </a:xfrm>
          <a:prstGeom prst="roundRect">
            <a:avLst>
              <a:gd name="adj" fmla="val 14000"/>
            </a:avLst>
          </a:prstGeom>
          <a:solidFill>
            <a:srgbClr val="EEF5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8519" y="7242048"/>
            <a:ext cx="7534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4E89"/>
                </a:solidFill>
                <a:latin typeface="Malgun Gothic"/>
              </a:rPr>
              <a:t>핵심 설계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8519" y="7498080"/>
            <a:ext cx="75346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브러시 보정 → 커밋 즉시 AI 검출 결과와 완전히 동일한 색·불투명도로 통일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67831" y="8238744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63927" y="8622792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2527" y="8622792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⑦ 존 리스트에서 퍼센티지 확인 → 결과 보기(Excel)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967831" y="9153144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63927" y="9537192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92527" y="9537192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배치: Zone 결정 방법 선택(고정 배치) → 선택 이미지 일괄 처리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3. Top/Bottom Analysis (edition)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화면 — 검출 → 보정 → 분석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2396413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수동_원생성_완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64496"/>
            <a:ext cx="2396413" cy="1517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239641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수동 원 생성 완료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9413" y="1965960"/>
            <a:ext cx="2396413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이미지B_추론실행결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413" y="3264496"/>
            <a:ext cx="2396413" cy="1517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39413" y="6217920"/>
            <a:ext cx="239641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추론 실행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6" y="1965960"/>
            <a:ext cx="2396413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6_브러시그리기_커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6" y="3264496"/>
            <a:ext cx="2396413" cy="1517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5866" y="6217920"/>
            <a:ext cx="239641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브러시 보정 → 시각 통일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319" y="1965960"/>
            <a:ext cx="2396413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1_결과분석_단일이미지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319" y="3184615"/>
            <a:ext cx="2396413" cy="167748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2319" y="6217920"/>
            <a:ext cx="239641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존별 결과 분석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3. Top/Bottom Analysis (edition)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추천 파라미터 / 설정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156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432"/>
                <a:gridCol w="1472184"/>
                <a:gridCol w="6729984"/>
              </a:tblGrid>
              <a:tr h="56692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실무 권장값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AI 신뢰도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처음엔 0%로 전체 검출 확인 후 10~30%까지 점진적 상향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픽셀 threshold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0px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카메라 해상도·최소 결함 크기에 맞춰 5~30px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원(Zone) 자동검출 민감도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금속광택/그림자 심하면 60~80%, 배경 깔끔하면 30~40%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오버레이 불투명도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꼼꼼히 볼 땐 70~90%, 원본과 겹쳐볼 땐 30~40%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브러시 크기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30px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큰 영역 40~60px, 정밀 보정 10~20px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배치 적용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고정 배치(2026-10-29~)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모델/추론 없이도 영역만 먼저 배치 가능, 개별 수정은 자유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AB"/>
                </a:solidFill>
                <a:latin typeface="Malgun Gothic"/>
              </a:rPr>
              <a:t>전체 표는 workflow-guide.md "3. Top/Bottom Analysis" 절 참고 (2026-10-29 배치 단순화 반영)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4. R Analysis (edition)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핵심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A7179"/>
                </a:solidFill>
                <a:latin typeface="Malgun Gothic"/>
              </a:rPr>
              <a:t>AI가 아니라 ROI 크롭 → 그레이스케일 → threshold → contour 검출 (고전적 CV)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927" y="2057400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92527" y="2057400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셀(이미지 묶음) 불러오기 → 검사 설정(Threshold·분모·스펙)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7831" y="2587752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3927" y="297180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FFF7EC"/>
          </a:solidFill>
          <a:ln w="15875">
            <a:solidFill>
              <a:srgbClr val="E0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8519" y="304495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A5A12"/>
                </a:solidFill>
                <a:latin typeface="Malgun Gothic"/>
              </a:rPr>
              <a:t>분기 — 자동 검출 꺼짐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8519" y="33009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ROI 불필요 → 브러시로만 영역 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0711" y="2971800"/>
            <a:ext cx="3877056" cy="960120"/>
          </a:xfrm>
          <a:prstGeom prst="roundRect">
            <a:avLst>
              <a:gd name="adj" fmla="val 14000"/>
            </a:avLst>
          </a:prstGeom>
          <a:solidFill>
            <a:srgbClr val="EAF7EF"/>
          </a:solidFill>
          <a:ln w="15875">
            <a:solidFill>
              <a:srgbClr val="3F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3044952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5C38"/>
                </a:solidFill>
                <a:latin typeface="Malgun Gothic"/>
              </a:rPr>
              <a:t>분기 — 자동 검출 켜짐(기본)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33009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ROI 사각형 지정 → 검출 실행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67831" y="40416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63927" y="4425696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2527" y="4425696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불투명도 조절 · 눈 아이콘/F키 토글 · 브러시 보정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67831" y="4956048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163927" y="5340096"/>
            <a:ext cx="7863840" cy="960120"/>
          </a:xfrm>
          <a:prstGeom prst="roundRect">
            <a:avLst>
              <a:gd name="adj" fmla="val 14000"/>
            </a:avLst>
          </a:prstGeom>
          <a:solidFill>
            <a:srgbClr val="EEF5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8519" y="5413248"/>
            <a:ext cx="7534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4E89"/>
                </a:solidFill>
                <a:latin typeface="Malgun Gothic"/>
              </a:rPr>
              <a:t>핵심 설계 원칙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519" y="5669280"/>
            <a:ext cx="75346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Malgun Gothic"/>
              </a:rPr>
              <a:t>커밋 즉시 검출 결과와 동일한 색·불투명도로 통일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967831" y="6409944"/>
            <a:ext cx="256032" cy="256032"/>
          </a:xfrm>
          <a:prstGeom prst="downArrow">
            <a:avLst/>
          </a:prstGeom>
          <a:solidFill>
            <a:srgbClr val="E0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63927" y="6793992"/>
            <a:ext cx="786384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2527" y="6793992"/>
            <a:ext cx="7406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6202C"/>
                </a:solidFill>
                <a:latin typeface="Malgun Gothic"/>
              </a:rPr>
              <a:t>셀 단위 R · PASS/FAIL 확인 → 전체 결과 보기(Excel)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4. R Analysis (edition)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화면 — 검출 → 브러시 보정 → 판정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검출결과_마스크표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91517"/>
            <a:ext cx="3301898" cy="206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Contour 검출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4898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_브러시보정_검출결과와_시각통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4898" y="2991517"/>
            <a:ext cx="3301898" cy="20636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44898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브러시 보정 → 시각 통일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6836" y="1965960"/>
            <a:ext cx="3301898" cy="4114800"/>
          </a:xfrm>
          <a:prstGeom prst="roundRect">
            <a:avLst>
              <a:gd name="adj" fmla="val 6000"/>
            </a:avLst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2_셀단위_판정_PASS_F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6836" y="2991517"/>
            <a:ext cx="3301898" cy="20636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66836" y="6217920"/>
            <a:ext cx="33018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6202C"/>
                </a:solidFill>
                <a:latin typeface="Malgun Gothic"/>
              </a:rPr>
              <a:t>셀 단위 PASS / FAIL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0A23C"/>
                </a:solidFill>
                <a:latin typeface="Malgun Gothic"/>
              </a:rPr>
              <a:t>4. R Analysis (edition)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C"/>
                </a:solidFill>
                <a:latin typeface="Malgun Gothic"/>
              </a:rPr>
              <a:t>추천 파라미터 / 설정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156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432"/>
                <a:gridCol w="1472184"/>
                <a:gridCol w="6729984"/>
              </a:tblGrid>
              <a:tr h="56692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7F6F2"/>
                          </a:solidFill>
                          <a:latin typeface="Malgun Gothic"/>
                        </a:defRPr>
                      </a:pPr>
                      <a:r>
                        <a:t>권장 사용 시나리오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대표 이미지 1~2장으로 먼저 확정, 배경/타겟 밝기에 맞춰 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분모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0이면 모든 셀 "미검사" — 반드시 실제 기준값으로 설정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스펙 상/하한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0.0 / 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실제 불량 기준(R비율)에 맞춰 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자동 검출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켜짐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대비 뚜렷하면 켜짐(일괄 처리), 조명 불균일·불규칙 형태면 꺼짐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오버레이 불투명도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경계 보정 시 70~90%, 디테일 확인 시 20% 이하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defRPr sz="1250" b="1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브러시 크기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30px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1A1A1A"/>
                          </a:solidFill>
                          <a:latin typeface="Malgun Gothic"/>
                        </a:defRPr>
                      </a:pPr>
                      <a:r>
                        <a:t>큰 영역 40~60px, 경계 미세 보정 10~15px</a:t>
                      </a:r>
                    </a:p>
                  </a:txBody>
                  <a:tcPr>
                    <a:solidFill>
                      <a:srgbClr val="F3F4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AB"/>
                </a:solidFill>
                <a:latin typeface="Malgun Gothic"/>
              </a:rPr>
              <a:t>전체 표는 workflow-guide.md "4. R Analysis 탭" 절 참고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1F3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C3CBD3"/>
                </a:solidFill>
                <a:latin typeface="Malgun Gothic"/>
              </a:rPr>
              <a:t>① 학습 → ② 추론은 체크포인트로 이어지는 하나의 파이프라인이다.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C3CBD3"/>
                </a:solidFill>
                <a:latin typeface="Malgun Gothic"/>
              </a:rPr>
              <a:t>③ Top/Bottom · ④ R 분석(edition)은 공통 원칙을 공유한다 — 브러시 보정은 AI/Contour 검출 결과를 「고치는 도구」이며, 커밋 후에는 완전히 같은 색·불투명도로 통일된다.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B2E8"/>
                </a:solidFill>
                <a:latin typeface="Malgun Gothic"/>
              </a:rPr>
              <a:t>전체 단계 · 분기 · 스크린샷은 docs/manual/workflow-guide.md 참고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