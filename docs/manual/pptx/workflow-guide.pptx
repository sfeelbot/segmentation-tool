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Relationship Id="rId3" Type="http://schemas.openxmlformats.org/officeDocument/2006/relationships/image" Target="../media/image43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Relationship Id="rId3" Type="http://schemas.openxmlformats.org/officeDocument/2006/relationships/image" Target="../media/image47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8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103327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FFFFF"/>
                </a:solidFill>
                <a:latin typeface="Cambria"/>
              </a:rPr>
              <a:t>Segmentation Model UI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327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CADCFC"/>
                </a:solidFill>
                <a:latin typeface="Calibri"/>
              </a:rPr>
              <a:t>탭별 사용 순서 가이드 — 학습 · 추론 · Top/Bottom 분석 · R 분석</a:t>
            </a:r>
          </a:p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CADCFC"/>
                </a:solidFill>
                <a:latin typeface="Calibri"/>
              </a:rPr>
              <a:t>화면별 클릭 버튼과 흐름도상 현재 위치를 함께 표시합니다.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651760"/>
            <a:ext cx="82296" cy="1371600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251460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Cambria"/>
              </a:rPr>
              <a:t>학습 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3566160"/>
            <a:ext cx="9144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CADCFC"/>
                </a:solidFill>
                <a:latin typeface="Calibri"/>
              </a:rPr>
              <a:t>모델 탭에서 검증·로드된 nn.Module로 하이퍼파라미터를 설정하고 큐를 실행해</a:t>
            </a:r>
          </a:p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CADCFC"/>
                </a:solidFill>
                <a:latin typeface="Calibri"/>
              </a:rPr>
              <a:t>체크포인트를 만들어내는 탭이다.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E2761"/>
                </a:solidFill>
                <a:latin typeface="Cambria"/>
              </a:rPr>
              <a:t>1단계 — 모델 탭에서 코드 검증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41248"/>
            <a:ext cx="2211019" cy="384048"/>
          </a:xfrm>
          <a:prstGeom prst="roundRect">
            <a:avLst>
              <a:gd name="adj" fmla="val 12000"/>
            </a:avLst>
          </a:prstGeom>
          <a:solidFill>
            <a:srgbClr val="FFB020"/>
          </a:solidFill>
          <a:ln w="15875">
            <a:solidFill>
              <a:srgbClr val="C9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1050" b="1">
                <a:solidFill>
                  <a:srgbClr val="121842"/>
                </a:solidFill>
                <a:latin typeface="Calibri"/>
              </a:rPr>
              <a:t>모델 로드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23083" y="841248"/>
            <a:ext cx="2211019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하이퍼파라미터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988966" y="841248"/>
            <a:ext cx="2211019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큐에 추가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54849" y="841248"/>
            <a:ext cx="2211019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모두 실행 · 진행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520732" y="841248"/>
            <a:ext cx="2211019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완료</a:t>
            </a:r>
          </a:p>
        </p:txBody>
      </p:sp>
      <p:sp>
        <p:nvSpPr>
          <p:cNvPr id="8" name="Rectangle 7"/>
          <p:cNvSpPr/>
          <p:nvPr/>
        </p:nvSpPr>
        <p:spPr>
          <a:xfrm>
            <a:off x="439200" y="1553625"/>
            <a:ext cx="7076880" cy="443655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1_모델탭_프리셋코드_an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71625"/>
            <a:ext cx="7040880" cy="44005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818120" y="1417320"/>
            <a:ext cx="39319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 i="0">
                <a:solidFill>
                  <a:srgbClr val="1A1F33"/>
                </a:solidFill>
                <a:latin typeface="Calibri"/>
              </a:rPr>
              <a:t>모델 탭에서 PyTorch nn.Module 코드를 붙여넣거나 </a:t>
            </a:r>
            <a:r>
              <a:rPr sz="1350" b="1" i="0">
                <a:solidFill>
                  <a:srgbClr val="1A1F33"/>
                </a:solidFill>
                <a:latin typeface="Calibri"/>
              </a:rPr>
              <a:t>AI 모델 프리셋...</a:t>
            </a:r>
            <a:r>
              <a:rPr sz="1350" b="0" i="0">
                <a:solidFill>
                  <a:srgbClr val="1A1F33"/>
                </a:solidFill>
                <a:latin typeface="Calibri"/>
              </a:rPr>
              <a:t> 버튼으로 U-Net/DeepLab 등 베이스라인을 불러온다. 이어서 </a:t>
            </a:r>
            <a:r>
              <a:rPr sz="1350" b="1" i="0">
                <a:solidFill>
                  <a:srgbClr val="1A1F33"/>
                </a:solidFill>
                <a:latin typeface="Calibri"/>
              </a:rPr>
              <a:t>검증 (Validate)</a:t>
            </a:r>
            <a:r>
              <a:rPr sz="1350" b="0" i="0">
                <a:solidFill>
                  <a:srgbClr val="1A1F33"/>
                </a:solidFill>
                <a:latin typeface="Calibri"/>
              </a:rPr>
              <a:t> 버튼을 클릭한다.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65392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B8C"/>
                </a:solidFill>
                <a:latin typeface="Calibri"/>
              </a:rPr>
              <a:t>학습 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56539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B8C"/>
                </a:solidFill>
                <a:latin typeface="Calibri"/>
              </a:rPr>
              <a:t>1/11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E2761"/>
                </a:solidFill>
                <a:latin typeface="Cambria"/>
              </a:rPr>
              <a:t>1단계 — 검증 통과 확인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41248"/>
            <a:ext cx="2211019" cy="384048"/>
          </a:xfrm>
          <a:prstGeom prst="roundRect">
            <a:avLst>
              <a:gd name="adj" fmla="val 12000"/>
            </a:avLst>
          </a:prstGeom>
          <a:solidFill>
            <a:srgbClr val="FFB020"/>
          </a:solidFill>
          <a:ln w="15875">
            <a:solidFill>
              <a:srgbClr val="C9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1050" b="1">
                <a:solidFill>
                  <a:srgbClr val="121842"/>
                </a:solidFill>
                <a:latin typeface="Calibri"/>
              </a:rPr>
              <a:t>모델 로드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23083" y="841248"/>
            <a:ext cx="2211019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하이퍼파라미터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988966" y="841248"/>
            <a:ext cx="2211019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큐에 추가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54849" y="841248"/>
            <a:ext cx="2211019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모두 실행 · 진행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520732" y="841248"/>
            <a:ext cx="2211019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완료</a:t>
            </a:r>
          </a:p>
        </p:txBody>
      </p:sp>
      <p:sp>
        <p:nvSpPr>
          <p:cNvPr id="8" name="Rectangle 7"/>
          <p:cNvSpPr/>
          <p:nvPr/>
        </p:nvSpPr>
        <p:spPr>
          <a:xfrm>
            <a:off x="439200" y="1553625"/>
            <a:ext cx="7076880" cy="443655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2_모델탭_검증완료_an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71625"/>
            <a:ext cx="7040880" cy="44005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818120" y="1417320"/>
            <a:ext cx="39319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 i="0">
                <a:solidFill>
                  <a:srgbClr val="1A1F33"/>
                </a:solidFill>
                <a:latin typeface="Calibri"/>
              </a:rPr>
              <a:t>로그에 </a:t>
            </a:r>
            <a:r>
              <a:rPr sz="1350" b="1" i="0">
                <a:solidFill>
                  <a:srgbClr val="1A1F33"/>
                </a:solidFill>
                <a:latin typeface="Calibri"/>
              </a:rPr>
              <a:t>[OK] 검증 통과</a:t>
            </a:r>
            <a:r>
              <a:rPr sz="1350" b="0" i="0">
                <a:solidFill>
                  <a:srgbClr val="1A1F33"/>
                </a:solidFill>
                <a:latin typeface="Calibri"/>
              </a:rPr>
              <a:t>가 뜨면 AST 기반 검사를 통과한 것이다. 이제 </a:t>
            </a:r>
            <a:r>
              <a:rPr sz="1350" b="1" i="0">
                <a:solidFill>
                  <a:srgbClr val="1A1F33"/>
                </a:solidFill>
                <a:latin typeface="Calibri"/>
              </a:rPr>
              <a:t>로드 (Load Model)</a:t>
            </a:r>
            <a:r>
              <a:rPr sz="1350" b="0" i="0">
                <a:solidFill>
                  <a:srgbClr val="1A1F33"/>
                </a:solidFill>
                <a:latin typeface="Calibri"/>
              </a:rPr>
              <a:t> 버튼이 활성화된다 — 클릭해 실제 모델 인스턴스를 생성한다.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65392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B8C"/>
                </a:solidFill>
                <a:latin typeface="Calibri"/>
              </a:rPr>
              <a:t>학습 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56539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B8C"/>
                </a:solidFill>
                <a:latin typeface="Calibri"/>
              </a:rPr>
              <a:t>2/11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E2761"/>
                </a:solidFill>
                <a:latin typeface="Cambria"/>
              </a:rPr>
              <a:t>1단계 — 로드 완료 확인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41248"/>
            <a:ext cx="2211019" cy="384048"/>
          </a:xfrm>
          <a:prstGeom prst="roundRect">
            <a:avLst>
              <a:gd name="adj" fmla="val 12000"/>
            </a:avLst>
          </a:prstGeom>
          <a:solidFill>
            <a:srgbClr val="FFB020"/>
          </a:solidFill>
          <a:ln w="15875">
            <a:solidFill>
              <a:srgbClr val="C9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1050" b="1">
                <a:solidFill>
                  <a:srgbClr val="121842"/>
                </a:solidFill>
                <a:latin typeface="Calibri"/>
              </a:rPr>
              <a:t>모델 로드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23083" y="841248"/>
            <a:ext cx="2211019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하이퍼파라미터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988966" y="841248"/>
            <a:ext cx="2211019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큐에 추가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54849" y="841248"/>
            <a:ext cx="2211019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모두 실행 · 진행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520732" y="841248"/>
            <a:ext cx="2211019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완료</a:t>
            </a:r>
          </a:p>
        </p:txBody>
      </p:sp>
      <p:sp>
        <p:nvSpPr>
          <p:cNvPr id="8" name="Rectangle 7"/>
          <p:cNvSpPr/>
          <p:nvPr/>
        </p:nvSpPr>
        <p:spPr>
          <a:xfrm>
            <a:off x="439200" y="1553625"/>
            <a:ext cx="7076880" cy="443655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3_모델탭_로드완료_an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71625"/>
            <a:ext cx="7040880" cy="44005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818120" y="1417320"/>
            <a:ext cx="39319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 i="0">
                <a:solidFill>
                  <a:srgbClr val="1A1F33"/>
                </a:solidFill>
                <a:latin typeface="Calibri"/>
              </a:rPr>
              <a:t>우측 하단에 </a:t>
            </a:r>
            <a:r>
              <a:rPr sz="1350" b="1" i="0">
                <a:solidFill>
                  <a:srgbClr val="1A1F33"/>
                </a:solidFill>
                <a:latin typeface="Calibri"/>
              </a:rPr>
              <a:t>✓ SimpleUNet (7,763,074 params)</a:t>
            </a:r>
            <a:r>
              <a:rPr sz="1350" b="0" i="0">
                <a:solidFill>
                  <a:srgbClr val="1A1F33"/>
                </a:solidFill>
                <a:latin typeface="Calibri"/>
              </a:rPr>
              <a:t> 처럼 파라미터 수가 표시되면 로드 완료다. 이 상태가 되어야 학습 탭에서 "현재 로드된 모델"을 쓸 수 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65392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B8C"/>
                </a:solidFill>
                <a:latin typeface="Calibri"/>
              </a:rPr>
              <a:t>학습 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56539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B8C"/>
                </a:solidFill>
                <a:latin typeface="Calibri"/>
              </a:rPr>
              <a:t>3/11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E2761"/>
                </a:solidFill>
                <a:latin typeface="Cambria"/>
              </a:rPr>
              <a:t>2단계 — 학습 탭: 하이퍼파라미터 설정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41248"/>
            <a:ext cx="2211019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모델 로드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23083" y="841248"/>
            <a:ext cx="2211019" cy="384048"/>
          </a:xfrm>
          <a:prstGeom prst="roundRect">
            <a:avLst>
              <a:gd name="adj" fmla="val 12000"/>
            </a:avLst>
          </a:prstGeom>
          <a:solidFill>
            <a:srgbClr val="FFB020"/>
          </a:solidFill>
          <a:ln w="15875">
            <a:solidFill>
              <a:srgbClr val="C9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1050" b="1">
                <a:solidFill>
                  <a:srgbClr val="121842"/>
                </a:solidFill>
                <a:latin typeface="Calibri"/>
              </a:rPr>
              <a:t>하이퍼파라미터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988966" y="841248"/>
            <a:ext cx="2211019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큐에 추가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54849" y="841248"/>
            <a:ext cx="2211019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모두 실행 · 진행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520732" y="841248"/>
            <a:ext cx="2211019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완료</a:t>
            </a:r>
          </a:p>
        </p:txBody>
      </p:sp>
      <p:sp>
        <p:nvSpPr>
          <p:cNvPr id="8" name="Rectangle 7"/>
          <p:cNvSpPr/>
          <p:nvPr/>
        </p:nvSpPr>
        <p:spPr>
          <a:xfrm>
            <a:off x="439200" y="1553625"/>
            <a:ext cx="7076880" cy="443655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4_학습탭_하이퍼파라미터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71625"/>
            <a:ext cx="7040880" cy="44005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818120" y="1417320"/>
            <a:ext cx="39319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 i="0">
                <a:solidFill>
                  <a:srgbClr val="1A1F33"/>
                </a:solidFill>
                <a:latin typeface="Calibri"/>
              </a:rPr>
              <a:t>왼쪽 패널에서 순서대로 설정한다 — 이미지 샘플링(resize/random_crop), 데이터(이미지 크기·Val 비율), 학습(Epochs·Batch·LR), 옵티마이저(Adam 등), 손실 함수/장치, LR Scheduler. 상단 CUDA 배너는 진단이 끝나면 자동으로 GPU 유무를 표시한다.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65392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B8C"/>
                </a:solidFill>
                <a:latin typeface="Calibri"/>
              </a:rPr>
              <a:t>학습 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56539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B8C"/>
                </a:solidFill>
                <a:latin typeface="Calibri"/>
              </a:rPr>
              <a:t>4/11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E2761"/>
                </a:solidFill>
                <a:latin typeface="Cambria"/>
              </a:rPr>
              <a:t>3단계 — 작업 이름 입력 후 큐에 추가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41248"/>
            <a:ext cx="2211019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모델 로드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23083" y="841248"/>
            <a:ext cx="2211019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하이퍼파라미터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988966" y="841248"/>
            <a:ext cx="2211019" cy="384048"/>
          </a:xfrm>
          <a:prstGeom prst="roundRect">
            <a:avLst>
              <a:gd name="adj" fmla="val 12000"/>
            </a:avLst>
          </a:prstGeom>
          <a:solidFill>
            <a:srgbClr val="FFB020"/>
          </a:solidFill>
          <a:ln w="15875">
            <a:solidFill>
              <a:srgbClr val="C9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1050" b="1">
                <a:solidFill>
                  <a:srgbClr val="121842"/>
                </a:solidFill>
                <a:latin typeface="Calibri"/>
              </a:rPr>
              <a:t>큐에 추가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54849" y="841248"/>
            <a:ext cx="2211019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모두 실행 · 진행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520732" y="841248"/>
            <a:ext cx="2211019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완료</a:t>
            </a:r>
          </a:p>
        </p:txBody>
      </p:sp>
      <p:sp>
        <p:nvSpPr>
          <p:cNvPr id="8" name="Rectangle 7"/>
          <p:cNvSpPr/>
          <p:nvPr/>
        </p:nvSpPr>
        <p:spPr>
          <a:xfrm>
            <a:off x="439200" y="1553625"/>
            <a:ext cx="7076880" cy="443655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5_학습탭_작업추가_an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71625"/>
            <a:ext cx="7040880" cy="44005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818120" y="1417320"/>
            <a:ext cx="39319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 i="0">
                <a:solidFill>
                  <a:srgbClr val="1A1F33"/>
                </a:solidFill>
                <a:latin typeface="Calibri"/>
              </a:rPr>
              <a:t>작업 이름을 입력하고(비워두면 자동 번호 부여) 사용할 모델을 고른 뒤 </a:t>
            </a:r>
            <a:r>
              <a:rPr sz="1350" b="1" i="0">
                <a:solidFill>
                  <a:srgbClr val="1A1F33"/>
                </a:solidFill>
                <a:latin typeface="Calibri"/>
              </a:rPr>
              <a:t>큐에 추가</a:t>
            </a:r>
            <a:r>
              <a:rPr sz="1350" b="0" i="0">
                <a:solidFill>
                  <a:srgbClr val="1A1F33"/>
                </a:solidFill>
                <a:latin typeface="Calibri"/>
              </a:rPr>
              <a:t> 버튼을 클릭한다. 여러 설정을 비교하려면 이름을 바꿔 여러 번 추가해 큐에 쌓을 수 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65392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B8C"/>
                </a:solidFill>
                <a:latin typeface="Calibri"/>
              </a:rPr>
              <a:t>학습 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56539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B8C"/>
                </a:solidFill>
                <a:latin typeface="Calibri"/>
              </a:rPr>
              <a:t>5/11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E2761"/>
                </a:solidFill>
                <a:latin typeface="Cambria"/>
              </a:rPr>
              <a:t>4단계 — 모두 실행 → 학습 진행 팝업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41248"/>
            <a:ext cx="2211019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모델 로드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23083" y="841248"/>
            <a:ext cx="2211019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하이퍼파라미터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988966" y="841248"/>
            <a:ext cx="2211019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큐에 추가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54849" y="841248"/>
            <a:ext cx="2211019" cy="384048"/>
          </a:xfrm>
          <a:prstGeom prst="roundRect">
            <a:avLst>
              <a:gd name="adj" fmla="val 12000"/>
            </a:avLst>
          </a:prstGeom>
          <a:solidFill>
            <a:srgbClr val="FFB020"/>
          </a:solidFill>
          <a:ln w="15875">
            <a:solidFill>
              <a:srgbClr val="C9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1050" b="1">
                <a:solidFill>
                  <a:srgbClr val="121842"/>
                </a:solidFill>
                <a:latin typeface="Calibri"/>
              </a:rPr>
              <a:t>모두 실행 · 진행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520732" y="841248"/>
            <a:ext cx="2211019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완료</a:t>
            </a:r>
          </a:p>
        </p:txBody>
      </p:sp>
      <p:sp>
        <p:nvSpPr>
          <p:cNvPr id="8" name="Rectangle 7"/>
          <p:cNvSpPr/>
          <p:nvPr/>
        </p:nvSpPr>
        <p:spPr>
          <a:xfrm>
            <a:off x="2416857" y="1399320"/>
            <a:ext cx="3121565" cy="4745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7_학습탭_진행팝업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4857" y="1417320"/>
            <a:ext cx="3085565" cy="47091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818120" y="1417320"/>
            <a:ext cx="39319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1" i="0">
                <a:solidFill>
                  <a:srgbClr val="1A1F33"/>
                </a:solidFill>
                <a:latin typeface="Calibri"/>
              </a:rPr>
              <a:t>모두 실행</a:t>
            </a:r>
            <a:r>
              <a:rPr sz="1350" b="0" i="0">
                <a:solidFill>
                  <a:srgbClr val="1A1F33"/>
                </a:solidFill>
                <a:latin typeface="Calibri"/>
              </a:rPr>
              <a:t> 버튼을 클릭하면 큐의 대기 작업을 순서대로 실행하며, 비모달 진행 팝업(현재 작업 Epoch/ETA, 큐 전체 상태, 단계별 로그)이 함께 뜬다.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3840480"/>
            <a:ext cx="3931920" cy="502920"/>
          </a:xfrm>
          <a:prstGeom prst="roundRect">
            <a:avLst>
              <a:gd name="adj" fmla="val 12000"/>
            </a:avLst>
          </a:prstGeom>
          <a:solidFill>
            <a:srgbClr val="EAEFFA"/>
          </a:solidFill>
          <a:ln w="12700">
            <a:solidFill>
              <a:srgbClr val="5B6B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050" i="1">
                <a:solidFill>
                  <a:srgbClr val="1E2761"/>
                </a:solidFill>
                <a:latin typeface="Calibri"/>
              </a:rPr>
              <a:t>⎇ 분기  GPU 사용 불가 시, 실행 전 "CPU 로 진행하시겠습니까?" 확인 팝업이 먼저 뜬다 (GPU 환경에서는 뜨지 않음).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565392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B8C"/>
                </a:solidFill>
                <a:latin typeface="Calibri"/>
              </a:rPr>
              <a:t>학습 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56539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B8C"/>
                </a:solidFill>
                <a:latin typeface="Calibri"/>
              </a:rPr>
              <a:t>6/11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E2761"/>
                </a:solidFill>
                <a:latin typeface="Cambria"/>
              </a:rPr>
              <a:t>4단계 — 학습 진행 중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41248"/>
            <a:ext cx="2211019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모델 로드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23083" y="841248"/>
            <a:ext cx="2211019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하이퍼파라미터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988966" y="841248"/>
            <a:ext cx="2211019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큐에 추가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54849" y="841248"/>
            <a:ext cx="2211019" cy="384048"/>
          </a:xfrm>
          <a:prstGeom prst="roundRect">
            <a:avLst>
              <a:gd name="adj" fmla="val 12000"/>
            </a:avLst>
          </a:prstGeom>
          <a:solidFill>
            <a:srgbClr val="FFB020"/>
          </a:solidFill>
          <a:ln w="15875">
            <a:solidFill>
              <a:srgbClr val="C9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1050" b="1">
                <a:solidFill>
                  <a:srgbClr val="121842"/>
                </a:solidFill>
                <a:latin typeface="Calibri"/>
              </a:rPr>
              <a:t>모두 실행 · 진행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520732" y="841248"/>
            <a:ext cx="2211019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완료</a:t>
            </a:r>
          </a:p>
        </p:txBody>
      </p:sp>
      <p:sp>
        <p:nvSpPr>
          <p:cNvPr id="8" name="Rectangle 7"/>
          <p:cNvSpPr/>
          <p:nvPr/>
        </p:nvSpPr>
        <p:spPr>
          <a:xfrm>
            <a:off x="439200" y="1553625"/>
            <a:ext cx="7076880" cy="443655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8_학습탭_진행중_an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71625"/>
            <a:ext cx="7040880" cy="44005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818120" y="1417320"/>
            <a:ext cx="39319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 i="0">
                <a:solidFill>
                  <a:srgbClr val="1A1F33"/>
                </a:solidFill>
                <a:latin typeface="Calibri"/>
              </a:rPr>
              <a:t>학습 탭 본문에서도 Epoch 진행바·Step 카운터·실시간 손실 그래프·우측 메트릭 패널로 진행 상황을 확인할 수 있다. 중단하려면 </a:t>
            </a:r>
            <a:r>
              <a:rPr sz="1350" b="1" i="0">
                <a:solidFill>
                  <a:srgbClr val="1A1F33"/>
                </a:solidFill>
                <a:latin typeface="Calibri"/>
              </a:rPr>
              <a:t>■ 중지</a:t>
            </a:r>
            <a:r>
              <a:rPr sz="1350" b="0" i="0">
                <a:solidFill>
                  <a:srgbClr val="1A1F33"/>
                </a:solidFill>
                <a:latin typeface="Calibri"/>
              </a:rPr>
              <a:t> 버튼을 클릭한다.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65392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B8C"/>
                </a:solidFill>
                <a:latin typeface="Calibri"/>
              </a:rPr>
              <a:t>학습 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56539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B8C"/>
                </a:solidFill>
                <a:latin typeface="Calibri"/>
              </a:rPr>
              <a:t>7/11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E2761"/>
                </a:solidFill>
                <a:latin typeface="Cambria"/>
              </a:rPr>
              <a:t>4단계 — 분기: 중지 확인 다이얼로그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41248"/>
            <a:ext cx="2211019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모델 로드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23083" y="841248"/>
            <a:ext cx="2211019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하이퍼파라미터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988966" y="841248"/>
            <a:ext cx="2211019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큐에 추가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54849" y="841248"/>
            <a:ext cx="2211019" cy="384048"/>
          </a:xfrm>
          <a:prstGeom prst="roundRect">
            <a:avLst>
              <a:gd name="adj" fmla="val 12000"/>
            </a:avLst>
          </a:prstGeom>
          <a:solidFill>
            <a:srgbClr val="FFB020"/>
          </a:solidFill>
          <a:ln w="15875">
            <a:solidFill>
              <a:srgbClr val="C9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1050" b="1">
                <a:solidFill>
                  <a:srgbClr val="121842"/>
                </a:solidFill>
                <a:latin typeface="Calibri"/>
              </a:rPr>
              <a:t>모두 실행 · 진행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520732" y="841248"/>
            <a:ext cx="2211019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완료</a:t>
            </a:r>
          </a:p>
        </p:txBody>
      </p:sp>
      <p:sp>
        <p:nvSpPr>
          <p:cNvPr id="8" name="Rectangle 7"/>
          <p:cNvSpPr/>
          <p:nvPr/>
        </p:nvSpPr>
        <p:spPr>
          <a:xfrm>
            <a:off x="439200" y="2282671"/>
            <a:ext cx="7076880" cy="2978457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9_학습탭_중지확인분기_an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300671"/>
            <a:ext cx="7040880" cy="294245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818120" y="1417320"/>
            <a:ext cx="39319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1" i="0">
                <a:solidFill>
                  <a:srgbClr val="1A1F33"/>
                </a:solidFill>
                <a:latin typeface="Calibri"/>
              </a:rPr>
              <a:t>중지</a:t>
            </a:r>
            <a:r>
              <a:rPr sz="1350" b="0" i="0">
                <a:solidFill>
                  <a:srgbClr val="1A1F33"/>
                </a:solidFill>
                <a:latin typeface="Calibri"/>
              </a:rPr>
              <a:t> 클릭 시 "전체 큐를 중지하시겠습니까?" 다이얼로그가 뜬다.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3840480"/>
            <a:ext cx="3931920" cy="502920"/>
          </a:xfrm>
          <a:prstGeom prst="roundRect">
            <a:avLst>
              <a:gd name="adj" fmla="val 12000"/>
            </a:avLst>
          </a:prstGeom>
          <a:solidFill>
            <a:srgbClr val="EAEFFA"/>
          </a:solidFill>
          <a:ln w="12700">
            <a:solidFill>
              <a:srgbClr val="5B6B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050" i="1">
                <a:solidFill>
                  <a:srgbClr val="1E2761"/>
                </a:solidFill>
                <a:latin typeface="Calibri"/>
              </a:rPr>
              <a:t>⎇ 분기  Yes=전체 큐 중지 · No=현재 작업만 중지하고 다음 큐로 진행 · Cancel=계속 학습.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565392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B8C"/>
                </a:solidFill>
                <a:latin typeface="Calibri"/>
              </a:rPr>
              <a:t>학습 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56539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B8C"/>
                </a:solidFill>
                <a:latin typeface="Calibri"/>
              </a:rPr>
              <a:t>8/11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E2761"/>
                </a:solidFill>
                <a:latin typeface="Cambria"/>
              </a:rPr>
              <a:t>5단계 — 학습 완료 · 체크포인트 저장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41248"/>
            <a:ext cx="2211019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모델 로드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23083" y="841248"/>
            <a:ext cx="2211019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하이퍼파라미터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988966" y="841248"/>
            <a:ext cx="2211019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큐에 추가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54849" y="841248"/>
            <a:ext cx="2211019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모두 실행 · 진행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520732" y="841248"/>
            <a:ext cx="2211019" cy="384048"/>
          </a:xfrm>
          <a:prstGeom prst="roundRect">
            <a:avLst>
              <a:gd name="adj" fmla="val 12000"/>
            </a:avLst>
          </a:prstGeom>
          <a:solidFill>
            <a:srgbClr val="FFB020"/>
          </a:solidFill>
          <a:ln w="15875">
            <a:solidFill>
              <a:srgbClr val="C9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1050" b="1">
                <a:solidFill>
                  <a:srgbClr val="121842"/>
                </a:solidFill>
                <a:latin typeface="Calibri"/>
              </a:rPr>
              <a:t>완료</a:t>
            </a:r>
          </a:p>
        </p:txBody>
      </p:sp>
      <p:sp>
        <p:nvSpPr>
          <p:cNvPr id="8" name="Rectangle 7"/>
          <p:cNvSpPr/>
          <p:nvPr/>
        </p:nvSpPr>
        <p:spPr>
          <a:xfrm>
            <a:off x="439200" y="1553625"/>
            <a:ext cx="7076880" cy="443655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10_학습탭_완료_an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71625"/>
            <a:ext cx="7040880" cy="44005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818120" y="1417320"/>
            <a:ext cx="39319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 i="0">
                <a:solidFill>
                  <a:srgbClr val="1A1F33"/>
                </a:solidFill>
                <a:latin typeface="Calibri"/>
              </a:rPr>
              <a:t>설정한 에폭을 모두 마치면 상태가 </a:t>
            </a:r>
            <a:r>
              <a:rPr sz="1350" b="1" i="0">
                <a:solidFill>
                  <a:srgbClr val="1A1F33"/>
                </a:solidFill>
                <a:latin typeface="Calibri"/>
              </a:rPr>
              <a:t>모든 학습 완료</a:t>
            </a:r>
            <a:r>
              <a:rPr sz="1350" b="0" i="0">
                <a:solidFill>
                  <a:srgbClr val="1A1F33"/>
                </a:solidFill>
                <a:latin typeface="Calibri"/>
              </a:rPr>
              <a:t>로 바뀌고 Train/Val Loss 전체 곡선이 그려지며, 우측에 에폭별 Val/IoU와 저장된 체크포인트 목록(`*_best.pt`, `*_epoch_NNNN.pt`)이 쌓인다.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65392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B8C"/>
                </a:solidFill>
                <a:latin typeface="Calibri"/>
              </a:rPr>
              <a:t>학습 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56539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B8C"/>
                </a:solidFill>
                <a:latin typeface="Calibri"/>
              </a:rPr>
              <a:t>9/11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E2761"/>
                </a:solidFill>
                <a:latin typeface="Cambria"/>
              </a:rPr>
              <a:t>학습 탭 — 전체 흐름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554480"/>
            <a:ext cx="1417320" cy="82296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모델 로드</a:t>
            </a:r>
          </a:p>
        </p:txBody>
      </p:sp>
      <p:sp>
        <p:nvSpPr>
          <p:cNvPr id="4" name="Right Arrow 3"/>
          <p:cNvSpPr/>
          <p:nvPr/>
        </p:nvSpPr>
        <p:spPr>
          <a:xfrm>
            <a:off x="1874520" y="1874520"/>
            <a:ext cx="1046988" cy="182880"/>
          </a:xfrm>
          <a:prstGeom prst="rightArrow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921508" y="1554480"/>
            <a:ext cx="1417320" cy="82296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하이퍼파라미터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338828" y="1874520"/>
            <a:ext cx="1046988" cy="182880"/>
          </a:xfrm>
          <a:prstGeom prst="rightArrow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385816" y="1554480"/>
            <a:ext cx="1417320" cy="82296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큐에 추가</a:t>
            </a:r>
          </a:p>
        </p:txBody>
      </p:sp>
      <p:sp>
        <p:nvSpPr>
          <p:cNvPr id="8" name="Right Arrow 7"/>
          <p:cNvSpPr/>
          <p:nvPr/>
        </p:nvSpPr>
        <p:spPr>
          <a:xfrm>
            <a:off x="6803136" y="1874520"/>
            <a:ext cx="1046988" cy="182880"/>
          </a:xfrm>
          <a:prstGeom prst="rightArrow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850124" y="1554480"/>
            <a:ext cx="1417320" cy="82296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모두 실행 · 진행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9267444" y="1874520"/>
            <a:ext cx="1046988" cy="182880"/>
          </a:xfrm>
          <a:prstGeom prst="rightArrow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314432" y="1554480"/>
            <a:ext cx="1417320" cy="82296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완료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75804" y="2788920"/>
            <a:ext cx="1965960" cy="868680"/>
          </a:xfrm>
          <a:prstGeom prst="roundRect">
            <a:avLst>
              <a:gd name="adj" fmla="val 12000"/>
            </a:avLst>
          </a:prstGeom>
          <a:solidFill>
            <a:srgbClr val="EAEFFA"/>
          </a:solidFill>
          <a:ln w="12700">
            <a:solidFill>
              <a:srgbClr val="5B6B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50" i="1">
                <a:solidFill>
                  <a:srgbClr val="1E2761"/>
                </a:solidFill>
                <a:latin typeface="Calibri"/>
              </a:rPr>
              <a:t>GPU 없음 → CPU 진행 확인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558784" y="2377440"/>
            <a:ext cx="0" cy="411480"/>
          </a:xfrm>
          <a:prstGeom prst="line">
            <a:avLst/>
          </a:prstGeom>
          <a:ln w="12700">
            <a:solidFill>
              <a:srgbClr val="5B6B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575804" y="3767328"/>
            <a:ext cx="1965960" cy="868680"/>
          </a:xfrm>
          <a:prstGeom prst="roundRect">
            <a:avLst>
              <a:gd name="adj" fmla="val 12000"/>
            </a:avLst>
          </a:prstGeom>
          <a:solidFill>
            <a:srgbClr val="EAEFFA"/>
          </a:solidFill>
          <a:ln w="12700">
            <a:solidFill>
              <a:srgbClr val="5B6B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50" i="1">
                <a:solidFill>
                  <a:srgbClr val="1E2761"/>
                </a:solidFill>
                <a:latin typeface="Calibri"/>
              </a:rPr>
              <a:t>중지 클릭 → Yes/No/Cancel 분기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558784" y="2377440"/>
            <a:ext cx="0" cy="1389888"/>
          </a:xfrm>
          <a:prstGeom prst="line">
            <a:avLst/>
          </a:prstGeom>
          <a:ln w="12700">
            <a:solidFill>
              <a:srgbClr val="5B6B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57200" y="6565392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B8C"/>
                </a:solidFill>
                <a:latin typeface="Calibri"/>
              </a:rPr>
              <a:t>학습 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0" y="656539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B8C"/>
                </a:solidFill>
                <a:latin typeface="Calibri"/>
              </a:rPr>
              <a:t>10/11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1E2761"/>
                </a:solidFill>
                <a:latin typeface="Cambria"/>
              </a:rPr>
              <a:t>학습 탭 — 추천 파라미터 / 설정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60120"/>
          <a:ext cx="11274551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1383"/>
                <a:gridCol w="2480401"/>
                <a:gridCol w="5862767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항목</a:t>
                      </a:r>
                    </a:p>
                  </a:txBody>
                  <a:tcPr anchor="ctr" marL="73152" marR="7315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코드 기본값</a:t>
                      </a:r>
                    </a:p>
                  </a:txBody>
                  <a:tcPr anchor="ctr" marL="73152" marR="7315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추천값 / 가이드</a:t>
                      </a:r>
                    </a:p>
                  </a:txBody>
                  <a:tcPr anchor="ctr" marL="73152" marR="73152">
                    <a:solidFill>
                      <a:srgbClr val="1E2761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F33"/>
                          </a:solidFill>
                          <a:latin typeface="Calibri"/>
                        </a:rPr>
                        <a:t>이미지 샘플링 모드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F33"/>
                          </a:solidFill>
                          <a:latin typeface="Calibri"/>
                        </a:rPr>
                        <a:t>random_crop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F33"/>
                          </a:solidFill>
                          <a:latin typeface="Calibri"/>
                        </a:rPr>
                        <a:t>대형 원본 → random_crop, 소형/테스트용 → resize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F33"/>
                          </a:solidFill>
                          <a:latin typeface="Calibri"/>
                        </a:rPr>
                        <a:t>패치 수</a:t>
                      </a:r>
                    </a:p>
                  </a:txBody>
                  <a:tcPr anchor="ctr" marL="73152" marR="73152" marT="36576" marB="36576">
                    <a:solidFill>
                      <a:srgbClr val="F0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F33"/>
                          </a:solidFill>
                          <a:latin typeface="Calibri"/>
                        </a:rPr>
                        <a:t>50</a:t>
                      </a:r>
                    </a:p>
                  </a:txBody>
                  <a:tcPr anchor="ctr" marL="73152" marR="73152" marT="36576" marB="36576">
                    <a:solidFill>
                      <a:srgbClr val="F0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F33"/>
                          </a:solidFill>
                          <a:latin typeface="Calibri"/>
                        </a:rPr>
                        <a:t>대형 이미지 50~100. '자동 계산'으로 40% 커버리지 권장값 산출</a:t>
                      </a:r>
                    </a:p>
                  </a:txBody>
                  <a:tcPr anchor="ctr" marL="73152" marR="73152" marT="36576" marB="36576">
                    <a:solidFill>
                      <a:srgbClr val="F0F3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F33"/>
                          </a:solidFill>
                          <a:latin typeface="Calibri"/>
                        </a:rPr>
                        <a:t>결함 우선 샘플링 확률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F33"/>
                          </a:solidFill>
                          <a:latin typeface="Calibri"/>
                        </a:rPr>
                        <a:t>0.7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F33"/>
                          </a:solidFill>
                          <a:latin typeface="Calibri"/>
                        </a:rPr>
                        <a:t>결함이 드물수록 0.7~0.9로 올려 클래스 불균형 완화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F33"/>
                          </a:solidFill>
                          <a:latin typeface="Calibri"/>
                        </a:rPr>
                        <a:t>Epochs</a:t>
                      </a:r>
                    </a:p>
                  </a:txBody>
                  <a:tcPr anchor="ctr" marL="73152" marR="73152" marT="36576" marB="36576">
                    <a:solidFill>
                      <a:srgbClr val="F0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F33"/>
                          </a:solidFill>
                          <a:latin typeface="Calibri"/>
                        </a:rPr>
                        <a:t>50</a:t>
                      </a:r>
                    </a:p>
                  </a:txBody>
                  <a:tcPr anchor="ctr" marL="73152" marR="73152" marT="36576" marB="36576">
                    <a:solidFill>
                      <a:srgbClr val="F0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F33"/>
                          </a:solidFill>
                          <a:latin typeface="Calibri"/>
                        </a:rPr>
                        <a:t>베이스라인 탐색 20~50, 본 학습은 Early stopping과 함께 100+</a:t>
                      </a:r>
                    </a:p>
                  </a:txBody>
                  <a:tcPr anchor="ctr" marL="73152" marR="73152" marT="36576" marB="36576">
                    <a:solidFill>
                      <a:srgbClr val="F0F3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F33"/>
                          </a:solidFill>
                          <a:latin typeface="Calibri"/>
                        </a:rPr>
                        <a:t>Batch Size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F3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F33"/>
                          </a:solidFill>
                          <a:latin typeface="Calibri"/>
                        </a:rPr>
                        <a:t>GPU 메모리에 맞춰 4~16, OOM 시 절반으로 감소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F33"/>
                          </a:solidFill>
                          <a:latin typeface="Calibri"/>
                        </a:rPr>
                        <a:t>Learning Rate</a:t>
                      </a:r>
                    </a:p>
                  </a:txBody>
                  <a:tcPr anchor="ctr" marL="73152" marR="73152" marT="36576" marB="36576">
                    <a:solidFill>
                      <a:srgbClr val="F0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F33"/>
                          </a:solidFill>
                          <a:latin typeface="Calibri"/>
                        </a:rPr>
                        <a:t>1e-4</a:t>
                      </a:r>
                    </a:p>
                  </a:txBody>
                  <a:tcPr anchor="ctr" marL="73152" marR="73152" marT="36576" marB="36576">
                    <a:solidFill>
                      <a:srgbClr val="F0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F33"/>
                          </a:solidFill>
                          <a:latin typeface="Calibri"/>
                        </a:rPr>
                        <a:t>Adam/AdamW 1e-4~3e-4, SGD는 1e-2~1e-3 + momentum 0.9</a:t>
                      </a:r>
                    </a:p>
                  </a:txBody>
                  <a:tcPr anchor="ctr" marL="73152" marR="73152" marT="36576" marB="36576">
                    <a:solidFill>
                      <a:srgbClr val="F0F3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F33"/>
                          </a:solidFill>
                          <a:latin typeface="Calibri"/>
                        </a:rPr>
                        <a:t>Val Split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F33"/>
                          </a:solidFill>
                          <a:latin typeface="Calibri"/>
                        </a:rPr>
                        <a:t>0.2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F33"/>
                          </a:solidFill>
                          <a:latin typeface="Calibri"/>
                        </a:rPr>
                        <a:t>데이터가 매우 적으면(≤10장) 0.1~0.2, 이미지 단위 분할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F33"/>
                          </a:solidFill>
                          <a:latin typeface="Calibri"/>
                        </a:rPr>
                        <a:t>DataLoader Workers</a:t>
                      </a:r>
                    </a:p>
                  </a:txBody>
                  <a:tcPr anchor="ctr" marL="73152" marR="73152" marT="36576" marB="36576">
                    <a:solidFill>
                      <a:srgbClr val="F0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F3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73152" marR="73152" marT="36576" marB="36576">
                    <a:solidFill>
                      <a:srgbClr val="F0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F33"/>
                          </a:solidFill>
                          <a:latin typeface="Calibri"/>
                        </a:rPr>
                        <a:t>상한 2 권장 — Windows 3~4는 OSError/MemoryError 재현</a:t>
                      </a:r>
                    </a:p>
                  </a:txBody>
                  <a:tcPr anchor="ctr" marL="73152" marR="73152" marT="36576" marB="36576">
                    <a:solidFill>
                      <a:srgbClr val="F0F3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F33"/>
                          </a:solidFill>
                          <a:latin typeface="Calibri"/>
                        </a:rPr>
                        <a:t>Optimizer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F33"/>
                          </a:solidFill>
                          <a:latin typeface="Calibri"/>
                        </a:rPr>
                        <a:t>Adam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F33"/>
                          </a:solidFill>
                          <a:latin typeface="Calibri"/>
                        </a:rPr>
                        <a:t>일반적으로 Adam/AdamW 무난, 세밀한 제어는 SGD+momentum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F33"/>
                          </a:solidFill>
                          <a:latin typeface="Calibri"/>
                        </a:rPr>
                        <a:t>Weight Decay</a:t>
                      </a:r>
                    </a:p>
                  </a:txBody>
                  <a:tcPr anchor="ctr" marL="73152" marR="73152" marT="36576" marB="36576">
                    <a:solidFill>
                      <a:srgbClr val="F0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F33"/>
                          </a:solidFill>
                          <a:latin typeface="Calibri"/>
                        </a:rPr>
                        <a:t>1e-4</a:t>
                      </a:r>
                    </a:p>
                  </a:txBody>
                  <a:tcPr anchor="ctr" marL="73152" marR="73152" marT="36576" marB="36576">
                    <a:solidFill>
                      <a:srgbClr val="F0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F33"/>
                          </a:solidFill>
                          <a:latin typeface="Calibri"/>
                        </a:rPr>
                        <a:t>산업용 결함 검출 기본값. 데이터 충분 시 0, 극소 데이터는 0.01</a:t>
                      </a:r>
                    </a:p>
                  </a:txBody>
                  <a:tcPr anchor="ctr" marL="73152" marR="73152" marT="36576" marB="36576">
                    <a:solidFill>
                      <a:srgbClr val="F0F3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F33"/>
                          </a:solidFill>
                          <a:latin typeface="Calibri"/>
                        </a:rPr>
                        <a:t>Loss Function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F33"/>
                          </a:solidFill>
                          <a:latin typeface="Calibri"/>
                        </a:rPr>
                        <a:t>CrossEntropyLoss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F33"/>
                          </a:solidFill>
                          <a:latin typeface="Calibri"/>
                        </a:rPr>
                        <a:t>결함 영역이 작으면 DiceLoss, 매우 드물면 FocalLoss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F33"/>
                          </a:solidFill>
                          <a:latin typeface="Calibri"/>
                        </a:rPr>
                        <a:t>Mixed Precision</a:t>
                      </a:r>
                    </a:p>
                  </a:txBody>
                  <a:tcPr anchor="ctr" marL="73152" marR="73152" marT="36576" marB="36576">
                    <a:solidFill>
                      <a:srgbClr val="F0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F33"/>
                          </a:solidFill>
                          <a:latin typeface="Calibri"/>
                        </a:rPr>
                        <a:t>켜짐</a:t>
                      </a:r>
                    </a:p>
                  </a:txBody>
                  <a:tcPr anchor="ctr" marL="73152" marR="73152" marT="36576" marB="36576">
                    <a:solidFill>
                      <a:srgbClr val="F0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F33"/>
                          </a:solidFill>
                          <a:latin typeface="Calibri"/>
                        </a:rPr>
                        <a:t>GPU 메모리 ~50% 절약 + 1.5~3배 속도. CC&lt;7.0은 자동 비활성화</a:t>
                      </a:r>
                    </a:p>
                  </a:txBody>
                  <a:tcPr anchor="ctr" marL="73152" marR="73152" marT="36576" marB="36576">
                    <a:solidFill>
                      <a:srgbClr val="F0F3FA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F33"/>
                          </a:solidFill>
                          <a:latin typeface="Calibri"/>
                        </a:rPr>
                        <a:t>LR Scheduler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F33"/>
                          </a:solidFill>
                          <a:latin typeface="Calibri"/>
                        </a:rPr>
                        <a:t>ReduceLROnPlateau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F33"/>
                          </a:solidFill>
                          <a:latin typeface="Calibri"/>
                        </a:rPr>
                        <a:t>ViT/UNet 표준→CosineAnnealingLR, 빠른 수렴→OneCycleLR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F33"/>
                          </a:solidFill>
                          <a:latin typeface="Calibri"/>
                        </a:rPr>
                        <a:t>Checkpoint 저장 주기</a:t>
                      </a:r>
                    </a:p>
                  </a:txBody>
                  <a:tcPr anchor="ctr" marL="73152" marR="73152" marT="36576" marB="36576">
                    <a:solidFill>
                      <a:srgbClr val="F0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F33"/>
                          </a:solidFill>
                          <a:latin typeface="Calibri"/>
                        </a:rPr>
                        <a:t>5 epoch</a:t>
                      </a:r>
                    </a:p>
                  </a:txBody>
                  <a:tcPr anchor="ctr" marL="73152" marR="73152" marT="36576" marB="36576">
                    <a:solidFill>
                      <a:srgbClr val="F0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F33"/>
                          </a:solidFill>
                          <a:latin typeface="Calibri"/>
                        </a:rPr>
                        <a:t>짧은 실험은 1, 본 학습은 5~10</a:t>
                      </a:r>
                    </a:p>
                  </a:txBody>
                  <a:tcPr anchor="ctr" marL="73152" marR="73152" marT="36576" marB="36576">
                    <a:solidFill>
                      <a:srgbClr val="F0F3FA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565392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B8C"/>
                </a:solidFill>
                <a:latin typeface="Calibri"/>
              </a:rPr>
              <a:t>학습 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56539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B8C"/>
                </a:solidFill>
                <a:latin typeface="Calibri"/>
              </a:rPr>
              <a:t>11/11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651760"/>
            <a:ext cx="82296" cy="1371600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251460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Cambria"/>
              </a:rPr>
              <a:t>추론 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3566160"/>
            <a:ext cx="9144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CADCFC"/>
                </a:solidFill>
                <a:latin typeface="Calibri"/>
              </a:rPr>
              <a:t>학습된 체크포인트로 새 이미지에 세그멘테이션을 실행하고, 결과를 시각적으로</a:t>
            </a:r>
          </a:p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CADCFC"/>
                </a:solidFill>
                <a:latin typeface="Calibri"/>
              </a:rPr>
              <a:t>확인·필터링·내보내는 탭이다.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E2761"/>
                </a:solidFill>
                <a:latin typeface="Cambria"/>
              </a:rPr>
              <a:t>1. 체크포인트 선택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FFB020"/>
          </a:solidFill>
          <a:ln w="15875">
            <a:solidFill>
              <a:srgbClr val="C9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1050" b="1">
                <a:solidFill>
                  <a:srgbClr val="121842"/>
                </a:solidFill>
                <a:latin typeface="Calibri"/>
              </a:rPr>
              <a:t>체크포인트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075688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이미지 선택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94176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옵션 조정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12664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추론 실행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31152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결과 확인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49640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결과 조정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168128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탐색 · 내보내기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9200" y="1553625"/>
            <a:ext cx="7076880" cy="443655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1_체크포인트_선택_an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71625"/>
            <a:ext cx="7040880" cy="44005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818120" y="1417320"/>
            <a:ext cx="39319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 i="0">
                <a:solidFill>
                  <a:srgbClr val="1A1F33"/>
                </a:solidFill>
                <a:latin typeface="Calibri"/>
              </a:rPr>
              <a:t>추론 탭을 열면 학습 탭에서 저장된 체크포인트 목록이 표에 자동으로 뜨고 </a:t>
            </a:r>
            <a:r>
              <a:rPr sz="1350" b="1" i="0">
                <a:solidFill>
                  <a:srgbClr val="1A1F33"/>
                </a:solidFill>
                <a:latin typeface="Calibri"/>
              </a:rPr>
              <a:t>가장 최근 체크포인트가 자동 선택</a:t>
            </a:r>
            <a:r>
              <a:rPr sz="1350" b="0" i="0">
                <a:solidFill>
                  <a:srgbClr val="1A1F33"/>
                </a:solidFill>
                <a:latin typeface="Calibri"/>
              </a:rPr>
              <a:t>된다. 다른 체크포인트를 쓰려면 표에서 행을 클릭한다.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565392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B8C"/>
                </a:solidFill>
                <a:latin typeface="Calibri"/>
              </a:rPr>
              <a:t>추론 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56539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B8C"/>
                </a:solidFill>
                <a:latin typeface="Calibri"/>
              </a:rPr>
              <a:t>1/12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E2761"/>
                </a:solidFill>
                <a:latin typeface="Cambria"/>
              </a:rPr>
              <a:t>2. 추론할 이미지 선택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체크포인트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075688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FFB020"/>
          </a:solidFill>
          <a:ln w="15875">
            <a:solidFill>
              <a:srgbClr val="C9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1050" b="1">
                <a:solidFill>
                  <a:srgbClr val="121842"/>
                </a:solidFill>
                <a:latin typeface="Calibri"/>
              </a:rPr>
              <a:t>이미지 선택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94176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옵션 조정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12664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추론 실행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31152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결과 확인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49640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결과 조정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168128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탐색 · 내보내기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9200" y="1553625"/>
            <a:ext cx="7076880" cy="443655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2_이미지_폴더_선택_an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71625"/>
            <a:ext cx="7040880" cy="44005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818120" y="1417320"/>
            <a:ext cx="39319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1" i="0">
                <a:solidFill>
                  <a:srgbClr val="1A1F33"/>
                </a:solidFill>
                <a:latin typeface="Calibri"/>
              </a:rPr>
              <a:t>파일 선택...</a:t>
            </a:r>
            <a:r>
              <a:rPr sz="1350" b="0" i="0">
                <a:solidFill>
                  <a:srgbClr val="1A1F33"/>
                </a:solidFill>
                <a:latin typeface="Calibri"/>
              </a:rPr>
              <a:t> 버튼으로 이미지 1장 이상을, </a:t>
            </a:r>
            <a:r>
              <a:rPr sz="1350" b="1" i="0">
                <a:solidFill>
                  <a:srgbClr val="1A1F33"/>
                </a:solidFill>
                <a:latin typeface="Calibri"/>
              </a:rPr>
              <a:t>폴더 선택...</a:t>
            </a:r>
            <a:r>
              <a:rPr sz="1350" b="0" i="0">
                <a:solidFill>
                  <a:srgbClr val="1A1F33"/>
                </a:solidFill>
                <a:latin typeface="Calibri"/>
              </a:rPr>
              <a:t> 버튼으로 폴더 전체(재귀 스캔)를 불러온다. 2장 이상이면 좌측에 검색·정렬 목록과 이전/다음 버튼이 나타난다.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565392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B8C"/>
                </a:solidFill>
                <a:latin typeface="Calibri"/>
              </a:rPr>
              <a:t>추론 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56539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B8C"/>
                </a:solidFill>
                <a:latin typeface="Calibri"/>
              </a:rPr>
              <a:t>2/12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E2761"/>
                </a:solidFill>
                <a:latin typeface="Cambria"/>
              </a:rPr>
              <a:t>3. (선택) 추론 옵션 조정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체크포인트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075688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이미지 선택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94176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FFB020"/>
          </a:solidFill>
          <a:ln w="15875">
            <a:solidFill>
              <a:srgbClr val="C9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1050" b="1">
                <a:solidFill>
                  <a:srgbClr val="121842"/>
                </a:solidFill>
                <a:latin typeface="Calibri"/>
              </a:rPr>
              <a:t>옵션 조정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12664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추론 실행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31152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결과 확인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49640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결과 조정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168128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탐색 · 내보내기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9200" y="1468364"/>
            <a:ext cx="7076880" cy="4607071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3_추론_방식_옵션_an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86364"/>
            <a:ext cx="7040880" cy="457107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818120" y="1417320"/>
            <a:ext cx="39319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1" i="0">
                <a:solidFill>
                  <a:srgbClr val="1A1F33"/>
                </a:solidFill>
                <a:latin typeface="Calibri"/>
              </a:rPr>
              <a:t>추론 방식</a:t>
            </a:r>
            <a:r>
              <a:rPr sz="1350" b="0" i="0">
                <a:solidFill>
                  <a:srgbClr val="1A1F33"/>
                </a:solidFill>
                <a:latin typeface="Calibri"/>
              </a:rPr>
              <a:t>을 resize(기본, 전체 축소)와 sliding_window(패치 단위, 세밀한 경계) 중에서 고른다. 최소 AI 점수/최소 픽셀 크기는 실행 전후 언제든 조정 가능하다.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565392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B8C"/>
                </a:solidFill>
                <a:latin typeface="Calibri"/>
              </a:rPr>
              <a:t>추론 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56539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B8C"/>
                </a:solidFill>
                <a:latin typeface="Calibri"/>
              </a:rPr>
              <a:t>3/12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E2761"/>
                </a:solidFill>
                <a:latin typeface="Cambria"/>
              </a:rPr>
              <a:t>4. 추론 실행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체크포인트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075688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이미지 선택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94176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옵션 조정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12664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FFB020"/>
          </a:solidFill>
          <a:ln w="15875">
            <a:solidFill>
              <a:srgbClr val="C9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1050" b="1">
                <a:solidFill>
                  <a:srgbClr val="121842"/>
                </a:solidFill>
                <a:latin typeface="Calibri"/>
              </a:rPr>
              <a:t>추론 실행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31152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결과 확인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49640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결과 조정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168128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탐색 · 내보내기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9200" y="1553625"/>
            <a:ext cx="7076880" cy="443655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4_추론_실행_진행중_an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71625"/>
            <a:ext cx="7040880" cy="44005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818120" y="1417320"/>
            <a:ext cx="39319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1" i="0">
                <a:solidFill>
                  <a:srgbClr val="1A1F33"/>
                </a:solidFill>
                <a:latin typeface="Calibri"/>
              </a:rPr>
              <a:t>▶ 추론 실행</a:t>
            </a:r>
            <a:r>
              <a:rPr sz="1350" b="0" i="0">
                <a:solidFill>
                  <a:srgbClr val="1A1F33"/>
                </a:solidFill>
                <a:latin typeface="Calibri"/>
              </a:rPr>
              <a:t> 버튼을 클릭하면 선택된 모든 이미지를 한 장씩 순차 추론한다. 버튼이 "추론 중…"으로 바뀌고 `완료수 / 전체수`가 실시간으로 올라간다.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18120" y="3840480"/>
            <a:ext cx="3931920" cy="384048"/>
          </a:xfrm>
          <a:prstGeom prst="roundRect">
            <a:avLst>
              <a:gd name="adj" fmla="val 12000"/>
            </a:avLst>
          </a:prstGeom>
          <a:solidFill>
            <a:srgbClr val="FFF4DC"/>
          </a:solidFill>
          <a:ln w="12700">
            <a:solidFill>
              <a:srgbClr val="C9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100">
                <a:solidFill>
                  <a:srgbClr val="7A4F00"/>
                </a:solidFill>
                <a:latin typeface="Calibri"/>
              </a:rPr>
              <a:t>💡 Tip  체크포인트 표의 행을 **더블클릭**해도 같은 동작을 바로 실행할 수 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565392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B8C"/>
                </a:solidFill>
                <a:latin typeface="Calibri"/>
              </a:rPr>
              <a:t>추론 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0" y="656539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B8C"/>
                </a:solidFill>
                <a:latin typeface="Calibri"/>
              </a:rPr>
              <a:t>4/12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E2761"/>
                </a:solidFill>
                <a:latin typeface="Cambria"/>
              </a:rPr>
              <a:t>5. 오버레이 결과 확인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체크포인트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075688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이미지 선택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94176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옵션 조정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12664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추론 실행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31152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FFB020"/>
          </a:solidFill>
          <a:ln w="15875">
            <a:solidFill>
              <a:srgbClr val="C9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1050" b="1">
                <a:solidFill>
                  <a:srgbClr val="121842"/>
                </a:solidFill>
                <a:latin typeface="Calibri"/>
              </a:rPr>
              <a:t>결과 확인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49640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결과 조정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168128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탐색 · 내보내기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9200" y="1553625"/>
            <a:ext cx="7076880" cy="443655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5_오버레이_결과_확인_an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71625"/>
            <a:ext cx="7040880" cy="44005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818120" y="1417320"/>
            <a:ext cx="39319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 i="0">
                <a:solidFill>
                  <a:srgbClr val="1A1F33"/>
                </a:solidFill>
                <a:latin typeface="Calibri"/>
              </a:rPr>
              <a:t>완료되면 원본+클래스별 색상 마스크가 블렌딩되어 표시된다. 오른쪽 범례에서 클래스별 색상과 픽셀 비율(%)을, 우측 위에서 탐지된 blob 총수를 확인한다.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18120" y="3840480"/>
            <a:ext cx="3931920" cy="384048"/>
          </a:xfrm>
          <a:prstGeom prst="roundRect">
            <a:avLst>
              <a:gd name="adj" fmla="val 12000"/>
            </a:avLst>
          </a:prstGeom>
          <a:solidFill>
            <a:srgbClr val="FFF4DC"/>
          </a:solidFill>
          <a:ln w="12700">
            <a:solidFill>
              <a:srgbClr val="C9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100">
                <a:solidFill>
                  <a:srgbClr val="7A4F00"/>
                </a:solidFill>
                <a:latin typeface="Calibri"/>
              </a:rPr>
              <a:t>💡 Tip  **F** 키로 오버레이 표시를 즉시 켜고 끌 수 있다(검출 전/후 비교용).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565392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B8C"/>
                </a:solidFill>
                <a:latin typeface="Calibri"/>
              </a:rPr>
              <a:t>추론 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0" y="656539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B8C"/>
                </a:solidFill>
                <a:latin typeface="Calibri"/>
              </a:rPr>
              <a:t>5/12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E2761"/>
                </a:solidFill>
                <a:latin typeface="Cambria"/>
              </a:rPr>
              <a:t>6. 분기 — 오버레이 불투명도 재조정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체크포인트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075688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이미지 선택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94176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옵션 조정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12664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추론 실행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31152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결과 확인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49640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FFB020"/>
          </a:solidFill>
          <a:ln w="15875">
            <a:solidFill>
              <a:srgbClr val="C9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1050" b="1">
                <a:solidFill>
                  <a:srgbClr val="121842"/>
                </a:solidFill>
                <a:latin typeface="Calibri"/>
              </a:rPr>
              <a:t>결과 조정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168128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탐색 · 내보내기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9200" y="1553625"/>
            <a:ext cx="7076880" cy="443655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6_불투명도_조정_an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71625"/>
            <a:ext cx="7040880" cy="44005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818120" y="1417320"/>
            <a:ext cx="39319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 i="0">
                <a:solidFill>
                  <a:srgbClr val="1A1F33"/>
                </a:solidFill>
                <a:latin typeface="Calibri"/>
              </a:rPr>
              <a:t>하단 슬라이더로 불투명도를 바꾸면 </a:t>
            </a:r>
            <a:r>
              <a:rPr sz="1350" b="1" i="0">
                <a:solidFill>
                  <a:srgbClr val="1A1F33"/>
                </a:solidFill>
                <a:latin typeface="Calibri"/>
              </a:rPr>
              <a:t>모델을 다시 돌리지 않고</a:t>
            </a:r>
            <a:r>
              <a:rPr sz="1350" b="0" i="0">
                <a:solidFill>
                  <a:srgbClr val="1A1F33"/>
                </a:solidFill>
                <a:latin typeface="Calibri"/>
              </a:rPr>
              <a:t> 기존 결과를 즉시 재블렌딩한다(약 75ms 디바운스).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18120" y="3840480"/>
            <a:ext cx="3931920" cy="502920"/>
          </a:xfrm>
          <a:prstGeom prst="roundRect">
            <a:avLst>
              <a:gd name="adj" fmla="val 12000"/>
            </a:avLst>
          </a:prstGeom>
          <a:solidFill>
            <a:srgbClr val="EAEFFA"/>
          </a:solidFill>
          <a:ln w="12700">
            <a:solidFill>
              <a:srgbClr val="5B6B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050" i="1">
                <a:solidFill>
                  <a:srgbClr val="1E2761"/>
                </a:solidFill>
                <a:latin typeface="Calibri"/>
              </a:rPr>
              <a:t>⎇ 분기  원본 디테일을 보려면 낮추고, 마스크 경계를 또렷이 보려면 높인다.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565392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B8C"/>
                </a:solidFill>
                <a:latin typeface="Calibri"/>
              </a:rPr>
              <a:t>추론 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0" y="656539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B8C"/>
                </a:solidFill>
                <a:latin typeface="Calibri"/>
              </a:rPr>
              <a:t>6/12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E2761"/>
                </a:solidFill>
                <a:latin typeface="Cambria"/>
              </a:rPr>
              <a:t>7. 분기 — 최소 AI 점수 / 최소 픽셀 크기 재조정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체크포인트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075688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이미지 선택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94176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옵션 조정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12664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추론 실행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31152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결과 확인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49640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FFB020"/>
          </a:solidFill>
          <a:ln w="15875">
            <a:solidFill>
              <a:srgbClr val="C9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1050" b="1">
                <a:solidFill>
                  <a:srgbClr val="121842"/>
                </a:solidFill>
                <a:latin typeface="Calibri"/>
              </a:rPr>
              <a:t>결과 조정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168128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탐색 · 내보내기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9200" y="1553625"/>
            <a:ext cx="7076880" cy="443655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7_최소픽셀크기_필터_an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71625"/>
            <a:ext cx="7040880" cy="44005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818120" y="1417320"/>
            <a:ext cx="39319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 i="0">
                <a:solidFill>
                  <a:srgbClr val="1A1F33"/>
                </a:solidFill>
                <a:latin typeface="Calibri"/>
              </a:rPr>
              <a:t>상단의 최소 AI 점수/최소 픽셀 크기를 바꾸면 </a:t>
            </a:r>
            <a:r>
              <a:rPr sz="1350" b="1" i="0">
                <a:solidFill>
                  <a:srgbClr val="1A1F33"/>
                </a:solidFill>
                <a:latin typeface="Calibri"/>
              </a:rPr>
              <a:t>모델 재실행 없이</a:t>
            </a:r>
            <a:r>
              <a:rPr sz="1350" b="0" i="0">
                <a:solidFill>
                  <a:srgbClr val="1A1F33"/>
                </a:solidFill>
                <a:latin typeface="Calibri"/>
              </a:rPr>
              <a:t> numpy/OpenCV 연산만으로 즉시 재필터링한다. 예시는 최소 픽셀 크기를 50px로 올려 노이즈성 blob을 제거한 모습.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565392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B8C"/>
                </a:solidFill>
                <a:latin typeface="Calibri"/>
              </a:rPr>
              <a:t>추론 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56539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B8C"/>
                </a:solidFill>
                <a:latin typeface="Calibri"/>
              </a:rPr>
              <a:t>7/12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E2761"/>
                </a:solidFill>
                <a:latin typeface="Cambria"/>
              </a:rPr>
              <a:t>8. 분기 — 폴더 모드: 이전/다음 이미지 탐색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체크포인트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075688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이미지 선택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94176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옵션 조정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12664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추론 실행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31152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결과 확인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49640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결과 조정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168128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FFB020"/>
          </a:solidFill>
          <a:ln w="15875">
            <a:solidFill>
              <a:srgbClr val="C9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1050" b="1">
                <a:solidFill>
                  <a:srgbClr val="121842"/>
                </a:solidFill>
                <a:latin typeface="Calibri"/>
              </a:rPr>
              <a:t>탐색 · 내보내기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9200" y="1553625"/>
            <a:ext cx="7076880" cy="443655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8_다음이미지_탐색_an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71625"/>
            <a:ext cx="7040880" cy="44005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818120" y="1417320"/>
            <a:ext cx="39319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 i="0">
                <a:solidFill>
                  <a:srgbClr val="1A1F33"/>
                </a:solidFill>
                <a:latin typeface="Calibri"/>
              </a:rPr>
              <a:t>이미지를 2장 이상 불러온 경우 </a:t>
            </a:r>
            <a:r>
              <a:rPr sz="1350" b="1" i="0">
                <a:solidFill>
                  <a:srgbClr val="1A1F33"/>
                </a:solidFill>
                <a:latin typeface="Calibri"/>
              </a:rPr>
              <a:t>이전 ◀ / 다음 ▶</a:t>
            </a:r>
            <a:r>
              <a:rPr sz="1350" b="0" i="0">
                <a:solidFill>
                  <a:srgbClr val="1A1F33"/>
                </a:solidFill>
                <a:latin typeface="Calibri"/>
              </a:rPr>
              <a:t> 버튼이나 왼쪽 목록 클릭으로 이동한다. 이미 일괄 추론이 끝났다면 재계산 없이 해당 이미지의 결과가 바로 표시된다.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565392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B8C"/>
                </a:solidFill>
                <a:latin typeface="Calibri"/>
              </a:rPr>
              <a:t>추론 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56539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B8C"/>
                </a:solidFill>
                <a:latin typeface="Calibri"/>
              </a:rPr>
              <a:t>8/12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E2761"/>
                </a:solidFill>
                <a:latin typeface="Cambria"/>
              </a:rPr>
              <a:t>9. 분기 — Excel로 내보내기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체크포인트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075688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이미지 선택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94176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옵션 조정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12664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추론 실행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31152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결과 확인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49640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결과 조정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168128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FFB020"/>
          </a:solidFill>
          <a:ln w="15875">
            <a:solidFill>
              <a:srgbClr val="C9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1050" b="1">
                <a:solidFill>
                  <a:srgbClr val="121842"/>
                </a:solidFill>
                <a:latin typeface="Calibri"/>
              </a:rPr>
              <a:t>탐색 · 내보내기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9200" y="2832373"/>
            <a:ext cx="7076880" cy="1879053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9_엑셀내보내기_선택_an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850373"/>
            <a:ext cx="7040880" cy="184305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818120" y="1417320"/>
            <a:ext cx="39319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1" i="0">
                <a:solidFill>
                  <a:srgbClr val="1A1F33"/>
                </a:solidFill>
                <a:latin typeface="Calibri"/>
              </a:rPr>
              <a:t>Excel로 내보내기</a:t>
            </a:r>
            <a:r>
              <a:rPr sz="1350" b="0" i="0">
                <a:solidFill>
                  <a:srgbClr val="1A1F33"/>
                </a:solidFill>
                <a:latin typeface="Calibri"/>
              </a:rPr>
              <a:t> 버튼을 클릭하면, 폴더 모드일 때 "현재 이미지만" 또는 "목록 전체 일괄 추론" 중 선택하는 창이 뜬다. 각 blob의 클래스·픽셀 수·신뢰도·중심좌표·bbox가 시트 하나로 저장된다.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565392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B8C"/>
                </a:solidFill>
                <a:latin typeface="Calibri"/>
              </a:rPr>
              <a:t>추론 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56539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B8C"/>
                </a:solidFill>
                <a:latin typeface="Calibri"/>
              </a:rPr>
              <a:t>9/12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E2761"/>
                </a:solidFill>
                <a:latin typeface="Cambria"/>
              </a:rPr>
              <a:t>9. 내보내기 완료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체크포인트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075688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이미지 선택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94176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옵션 조정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12664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추론 실행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31152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결과 확인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49640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결과 조정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168128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FFB020"/>
          </a:solidFill>
          <a:ln w="15875">
            <a:solidFill>
              <a:srgbClr val="C9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1050" b="1">
                <a:solidFill>
                  <a:srgbClr val="121842"/>
                </a:solidFill>
                <a:latin typeface="Calibri"/>
              </a:rPr>
              <a:t>탐색 · 내보내기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9200" y="2695608"/>
            <a:ext cx="7076880" cy="2152583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10_엑셀내보내기_완료_an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13608"/>
            <a:ext cx="7040880" cy="211658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818120" y="1417320"/>
            <a:ext cx="39319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 i="0">
                <a:solidFill>
                  <a:srgbClr val="1A1F33"/>
                </a:solidFill>
                <a:latin typeface="Calibri"/>
              </a:rPr>
              <a:t>저장 완료 안내 토스트가 뜨면 </a:t>
            </a:r>
            <a:r>
              <a:rPr sz="1350" b="1" i="0">
                <a:solidFill>
                  <a:srgbClr val="1A1F33"/>
                </a:solidFill>
                <a:latin typeface="Calibri"/>
              </a:rPr>
              <a:t>OK</a:t>
            </a:r>
            <a:r>
              <a:rPr sz="1350" b="0" i="0">
                <a:solidFill>
                  <a:srgbClr val="1A1F33"/>
                </a:solidFill>
                <a:latin typeface="Calibri"/>
              </a:rPr>
              <a:t>를 눌러 닫는다.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565392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B8C"/>
                </a:solidFill>
                <a:latin typeface="Calibri"/>
              </a:rPr>
              <a:t>추론 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56539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B8C"/>
                </a:solidFill>
                <a:latin typeface="Calibri"/>
              </a:rPr>
              <a:t>10/12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E2761"/>
                </a:solidFill>
                <a:latin typeface="Cambria"/>
              </a:rPr>
              <a:t>추론 탭 — 전체 흐름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554480"/>
            <a:ext cx="1417320" cy="82296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체크포인트</a:t>
            </a:r>
          </a:p>
        </p:txBody>
      </p:sp>
      <p:sp>
        <p:nvSpPr>
          <p:cNvPr id="4" name="Right Arrow 3"/>
          <p:cNvSpPr/>
          <p:nvPr/>
        </p:nvSpPr>
        <p:spPr>
          <a:xfrm>
            <a:off x="1874520" y="1874520"/>
            <a:ext cx="225552" cy="182880"/>
          </a:xfrm>
          <a:prstGeom prst="rightArrow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100072" y="1554480"/>
            <a:ext cx="1417320" cy="82296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이미지 선택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517392" y="1874520"/>
            <a:ext cx="225552" cy="182880"/>
          </a:xfrm>
          <a:prstGeom prst="rightArrow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742944" y="1554480"/>
            <a:ext cx="1417320" cy="82296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옵션 조정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160264" y="1874520"/>
            <a:ext cx="225552" cy="182880"/>
          </a:xfrm>
          <a:prstGeom prst="rightArrow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385816" y="1554480"/>
            <a:ext cx="1417320" cy="82296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추론 실행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803136" y="1874520"/>
            <a:ext cx="225552" cy="182880"/>
          </a:xfrm>
          <a:prstGeom prst="rightArrow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028688" y="1554480"/>
            <a:ext cx="1417320" cy="82296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결과 확인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446008" y="1874520"/>
            <a:ext cx="225552" cy="182880"/>
          </a:xfrm>
          <a:prstGeom prst="rightArrow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671560" y="1554480"/>
            <a:ext cx="1417320" cy="82296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결과 조정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10088880" y="1874520"/>
            <a:ext cx="225552" cy="182880"/>
          </a:xfrm>
          <a:prstGeom prst="rightArrow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314432" y="1554480"/>
            <a:ext cx="1417320" cy="82296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탐색 · 내보내기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97240" y="2788920"/>
            <a:ext cx="1965960" cy="868680"/>
          </a:xfrm>
          <a:prstGeom prst="roundRect">
            <a:avLst>
              <a:gd name="adj" fmla="val 12000"/>
            </a:avLst>
          </a:prstGeom>
          <a:solidFill>
            <a:srgbClr val="EAEFFA"/>
          </a:solidFill>
          <a:ln w="12700">
            <a:solidFill>
              <a:srgbClr val="5B6B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50" i="1">
                <a:solidFill>
                  <a:srgbClr val="1E2761"/>
                </a:solidFill>
                <a:latin typeface="Calibri"/>
              </a:rPr>
              <a:t>불투명도 변경 → 즉시 재블렌딩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380220" y="2377440"/>
            <a:ext cx="0" cy="411480"/>
          </a:xfrm>
          <a:prstGeom prst="line">
            <a:avLst/>
          </a:prstGeom>
          <a:ln w="12700">
            <a:solidFill>
              <a:srgbClr val="5B6B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397240" y="3767328"/>
            <a:ext cx="1965960" cy="868680"/>
          </a:xfrm>
          <a:prstGeom prst="roundRect">
            <a:avLst>
              <a:gd name="adj" fmla="val 12000"/>
            </a:avLst>
          </a:prstGeom>
          <a:solidFill>
            <a:srgbClr val="EAEFFA"/>
          </a:solidFill>
          <a:ln w="12700">
            <a:solidFill>
              <a:srgbClr val="5B6B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50" i="1">
                <a:solidFill>
                  <a:srgbClr val="1E2761"/>
                </a:solidFill>
                <a:latin typeface="Calibri"/>
              </a:rPr>
              <a:t>AI점수/픽셀크기 변경 → 즉시 재필터링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380220" y="2377440"/>
            <a:ext cx="0" cy="1389888"/>
          </a:xfrm>
          <a:prstGeom prst="line">
            <a:avLst/>
          </a:prstGeom>
          <a:ln w="12700">
            <a:solidFill>
              <a:srgbClr val="5B6B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57200" y="6565392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B8C"/>
                </a:solidFill>
                <a:latin typeface="Calibri"/>
              </a:rPr>
              <a:t>추론 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56539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B8C"/>
                </a:solidFill>
                <a:latin typeface="Calibri"/>
              </a:rPr>
              <a:t>11/12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1E2761"/>
                </a:solidFill>
                <a:latin typeface="Cambria"/>
              </a:rPr>
              <a:t>추론 탭 — 추천 파라미터 / 설정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60120"/>
          <a:ext cx="11274550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8001"/>
                <a:gridCol w="2254910"/>
                <a:gridCol w="2601819"/>
                <a:gridCol w="4509820"/>
              </a:tblGrid>
              <a:tr h="9144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설정</a:t>
                      </a:r>
                    </a:p>
                  </a:txBody>
                  <a:tcPr anchor="ctr" marL="73152" marR="7315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코드 기본값</a:t>
                      </a:r>
                    </a:p>
                  </a:txBody>
                  <a:tcPr anchor="ctr" marL="73152" marR="7315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실무 권장</a:t>
                      </a:r>
                    </a:p>
                  </a:txBody>
                  <a:tcPr anchor="ctr" marL="73152" marR="7315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주의사항</a:t>
                      </a:r>
                    </a:p>
                  </a:txBody>
                  <a:tcPr anchor="ctr" marL="73152" marR="73152">
                    <a:solidFill>
                      <a:srgbClr val="1E2761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F33"/>
                          </a:solidFill>
                          <a:latin typeface="Calibri"/>
                        </a:rPr>
                        <a:t>추론 방식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F33"/>
                          </a:solidFill>
                          <a:latin typeface="Calibri"/>
                        </a:rPr>
                        <a:t>resize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F33"/>
                          </a:solidFill>
                          <a:latin typeface="Calibri"/>
                        </a:rPr>
                        <a:t>대부분 resize 그대로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F33"/>
                          </a:solidFill>
                          <a:latin typeface="Calibri"/>
                        </a:rPr>
                        <a:t>patch 학습 모델/세밀한 경계 필요 시 sliding_window — 연산량 증가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F33"/>
                          </a:solidFill>
                          <a:latin typeface="Calibri"/>
                        </a:rPr>
                        <a:t>오버랩</a:t>
                      </a:r>
                    </a:p>
                  </a:txBody>
                  <a:tcPr anchor="ctr" marL="73152" marR="73152" marT="36576" marB="36576">
                    <a:solidFill>
                      <a:srgbClr val="F0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F33"/>
                          </a:solidFill>
                          <a:latin typeface="Calibri"/>
                        </a:rPr>
                        <a:t>64px (0~256)</a:t>
                      </a:r>
                    </a:p>
                  </a:txBody>
                  <a:tcPr anchor="ctr" marL="73152" marR="73152" marT="36576" marB="36576">
                    <a:solidFill>
                      <a:srgbClr val="F0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F33"/>
                          </a:solidFill>
                          <a:latin typeface="Calibri"/>
                        </a:rPr>
                        <a:t>64px 유지 또는 patch의 10~25%</a:t>
                      </a:r>
                    </a:p>
                  </a:txBody>
                  <a:tcPr anchor="ctr" marL="73152" marR="73152" marT="36576" marB="36576">
                    <a:solidFill>
                      <a:srgbClr val="F0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F33"/>
                          </a:solidFill>
                          <a:latin typeface="Calibri"/>
                        </a:rPr>
                        <a:t>작으면 이음새 어색, 크면 추론 시간 비례 증가</a:t>
                      </a:r>
                    </a:p>
                  </a:txBody>
                  <a:tcPr anchor="ctr" marL="73152" marR="73152" marT="36576" marB="36576">
                    <a:solidFill>
                      <a:srgbClr val="F0F3FA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F33"/>
                          </a:solidFill>
                          <a:latin typeface="Calibri"/>
                        </a:rPr>
                        <a:t>최소 AI 점수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F33"/>
                          </a:solidFill>
                          <a:latin typeface="Calibri"/>
                        </a:rPr>
                        <a:t>0% (0~100%)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F33"/>
                          </a:solidFill>
                          <a:latin typeface="Calibri"/>
                        </a:rPr>
                        <a:t>실데이터 40~60%부터 조정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F33"/>
                          </a:solidFill>
                          <a:latin typeface="Calibri"/>
                        </a:rPr>
                        <a:t>0%는 저신뢰 오탐까지 노출, 80%+는 실결함 누락 위험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F33"/>
                          </a:solidFill>
                          <a:latin typeface="Calibri"/>
                        </a:rPr>
                        <a:t>최소 픽셀 크기</a:t>
                      </a:r>
                    </a:p>
                  </a:txBody>
                  <a:tcPr anchor="ctr" marL="73152" marR="73152" marT="36576" marB="36576">
                    <a:solidFill>
                      <a:srgbClr val="F0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F33"/>
                          </a:solidFill>
                          <a:latin typeface="Calibri"/>
                        </a:rPr>
                        <a:t>0px (0~100000)</a:t>
                      </a:r>
                    </a:p>
                  </a:txBody>
                  <a:tcPr anchor="ctr" marL="73152" marR="73152" marT="36576" marB="36576">
                    <a:solidFill>
                      <a:srgbClr val="F0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F33"/>
                          </a:solidFill>
                          <a:latin typeface="Calibri"/>
                        </a:rPr>
                        <a:t>최소 결함 크기의 절반부터 시작</a:t>
                      </a:r>
                    </a:p>
                  </a:txBody>
                  <a:tcPr anchor="ctr" marL="73152" marR="73152" marT="36576" marB="36576">
                    <a:solidFill>
                      <a:srgbClr val="F0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F33"/>
                          </a:solidFill>
                          <a:latin typeface="Calibri"/>
                        </a:rPr>
                        <a:t>0px는 1픽셀 노이즈도 집계, 과하면 작은 결함도 소거</a:t>
                      </a:r>
                    </a:p>
                  </a:txBody>
                  <a:tcPr anchor="ctr" marL="73152" marR="73152" marT="36576" marB="36576">
                    <a:solidFill>
                      <a:srgbClr val="F0F3FA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F33"/>
                          </a:solidFill>
                          <a:latin typeface="Calibri"/>
                        </a:rPr>
                        <a:t>오버레이 불투명도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F33"/>
                          </a:solidFill>
                          <a:latin typeface="Calibri"/>
                        </a:rPr>
                        <a:t>50%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F33"/>
                          </a:solidFill>
                          <a:latin typeface="Calibri"/>
                        </a:rPr>
                        <a:t>평상 50%, 경계 확인 70~90%, 질감 확인 20~30%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F33"/>
                          </a:solidFill>
                          <a:latin typeface="Calibri"/>
                        </a:rPr>
                        <a:t>F 키로 양 극단 대신 토글 활용 가능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565392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B8C"/>
                </a:solidFill>
                <a:latin typeface="Calibri"/>
              </a:rPr>
              <a:t>추론 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56539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B8C"/>
                </a:solidFill>
                <a:latin typeface="Calibri"/>
              </a:rPr>
              <a:t>12/12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651760"/>
            <a:ext cx="82296" cy="1371600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251460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Cambria"/>
              </a:rPr>
              <a:t>Top/Bottom Analysis (존 분석) 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3566160"/>
            <a:ext cx="9144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CADCFC"/>
                </a:solidFill>
                <a:latin typeface="Calibri"/>
              </a:rPr>
              <a:t>edition 전용 — AI가 자동 검출한 녹(rust)을 동심원 zone 기준으로 분석하고,</a:t>
            </a:r>
          </a:p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CADCFC"/>
                </a:solidFill>
                <a:latin typeface="Calibri"/>
              </a:rPr>
              <a:t>브러시로 결과를 보정하는 탭이다. 7단계 인디케이터는 참고용일 뿐 강제 순서가 아니다.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E2761"/>
                </a:solidFill>
                <a:latin typeface="Cambria"/>
              </a:rPr>
              <a:t>1. 체크포인트 열기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FFB020"/>
          </a:solidFill>
          <a:ln w="15875">
            <a:solidFill>
              <a:srgbClr val="C9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1050" b="1">
                <a:solidFill>
                  <a:srgbClr val="121842"/>
                </a:solidFill>
                <a:latin typeface="Calibri"/>
              </a:rPr>
              <a:t>① 체크포인트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075688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② 이미지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94176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③ 영역 설정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12664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④ 추론 실행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31152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⑤ 진행상황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49640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⑥ 결과 보정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168128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⑦ 결과 분석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9200" y="1524288"/>
            <a:ext cx="7076880" cy="449522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2_체크포인트_로드완료_an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42288"/>
            <a:ext cx="7040880" cy="445922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818120" y="1417320"/>
            <a:ext cx="39319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 i="0">
                <a:solidFill>
                  <a:srgbClr val="1A1F33"/>
                </a:solidFill>
                <a:latin typeface="Calibri"/>
              </a:rPr>
              <a:t>좌상단 </a:t>
            </a:r>
            <a:r>
              <a:rPr sz="1350" b="1" i="0">
                <a:solidFill>
                  <a:srgbClr val="1A1F33"/>
                </a:solidFill>
                <a:latin typeface="Calibri"/>
              </a:rPr>
              <a:t>체크포인트 열기 (.pt)</a:t>
            </a:r>
            <a:r>
              <a:rPr sz="1350" b="0" i="0">
                <a:solidFill>
                  <a:srgbClr val="1A1F33"/>
                </a:solidFill>
                <a:latin typeface="Calibri"/>
              </a:rPr>
              <a:t> 버튼으로 학습된 체크포인트를 연다. 프리셋 모델이면 초록 점 + "자동 준비됨"으로 바로 준비되고, 출처 불명 체크포인트는 커스텀 모델 코드 입력 박스가 나타난다.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565392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B8C"/>
                </a:solidFill>
                <a:latin typeface="Calibri"/>
              </a:rPr>
              <a:t>Top/Bottom Analysis (존 분석) 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56539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B8C"/>
                </a:solidFill>
                <a:latin typeface="Calibri"/>
              </a:rPr>
              <a:t>1/20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E2761"/>
                </a:solidFill>
                <a:latin typeface="Cambria"/>
              </a:rPr>
              <a:t>2. 이미지(또는 배치) 불러오기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① 체크포인트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075688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FFB020"/>
          </a:solidFill>
          <a:ln w="15875">
            <a:solidFill>
              <a:srgbClr val="C9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1050" b="1">
                <a:solidFill>
                  <a:srgbClr val="121842"/>
                </a:solidFill>
                <a:latin typeface="Calibri"/>
              </a:rPr>
              <a:t>② 이미지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94176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③ 영역 설정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12664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④ 추론 실행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31152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⑤ 진행상황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49640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⑥ 결과 보정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168128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⑦ 결과 분석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9200" y="1524288"/>
            <a:ext cx="7076880" cy="449522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3_이미지_배치로드_an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42288"/>
            <a:ext cx="7040880" cy="445922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818120" y="1417320"/>
            <a:ext cx="39319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 i="0">
                <a:solidFill>
                  <a:srgbClr val="1A1F33"/>
                </a:solidFill>
                <a:latin typeface="Calibri"/>
              </a:rPr>
              <a:t>좌측 패널의 </a:t>
            </a:r>
            <a:r>
              <a:rPr sz="1350" b="1" i="0">
                <a:solidFill>
                  <a:srgbClr val="1A1F33"/>
                </a:solidFill>
                <a:latin typeface="Calibri"/>
              </a:rPr>
              <a:t>파일</a:t>
            </a:r>
            <a:r>
              <a:rPr sz="1350" b="0" i="0">
                <a:solidFill>
                  <a:srgbClr val="1A1F33"/>
                </a:solidFill>
                <a:latin typeface="Calibri"/>
              </a:rPr>
              <a:t>(다중 선택) 또는 </a:t>
            </a:r>
            <a:r>
              <a:rPr sz="1350" b="1" i="0">
                <a:solidFill>
                  <a:srgbClr val="1A1F33"/>
                </a:solidFill>
                <a:latin typeface="Calibri"/>
              </a:rPr>
              <a:t>폴더</a:t>
            </a:r>
            <a:r>
              <a:rPr sz="1350" b="0" i="0">
                <a:solidFill>
                  <a:srgbClr val="1A1F33"/>
                </a:solidFill>
                <a:latin typeface="Calibri"/>
              </a:rPr>
              <a:t>(재귀 스캔) 버튼으로 이미지를 불러온다. 2장 이상이면 좌측에 이미지 목록이 나타나 전환할 수 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565392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B8C"/>
                </a:solidFill>
                <a:latin typeface="Calibri"/>
              </a:rPr>
              <a:t>Top/Bottom Analysis (존 분석) 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56539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B8C"/>
                </a:solidFill>
                <a:latin typeface="Calibri"/>
              </a:rPr>
              <a:t>2/20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E2761"/>
                </a:solidFill>
                <a:latin typeface="Cambria"/>
              </a:rPr>
              <a:t>3-1. 영역(Zone) 자동 검출 — 분기: 실패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① 체크포인트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075688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② 이미지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94176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FFB020"/>
          </a:solidFill>
          <a:ln w="15875">
            <a:solidFill>
              <a:srgbClr val="C9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1050" b="1">
                <a:solidFill>
                  <a:srgbClr val="121842"/>
                </a:solidFill>
                <a:latin typeface="Calibri"/>
              </a:rPr>
              <a:t>③ 영역 설정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12664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④ 추론 실행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31152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⑤ 진행상황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49640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⑥ 결과 보정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168128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⑦ 결과 분석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9200" y="2987153"/>
            <a:ext cx="7076880" cy="1569493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5_자동검출_실패_안내_an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005153"/>
            <a:ext cx="7040880" cy="153349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818120" y="1417320"/>
            <a:ext cx="39319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1" i="0">
                <a:solidFill>
                  <a:srgbClr val="1A1F33"/>
                </a:solidFill>
                <a:latin typeface="Calibri"/>
              </a:rPr>
              <a:t>자동 검출</a:t>
            </a:r>
            <a:r>
              <a:rPr sz="1350" b="0" i="0">
                <a:solidFill>
                  <a:srgbClr val="1A1F33"/>
                </a:solidFill>
                <a:latin typeface="Calibri"/>
              </a:rPr>
              <a:t> 버튼으로 동심원 후보를 찾는다. edge가 뚜렷하지 않으면(예: 평평한 금속면) "원을 찾지 못했습니다" 안내가 뜬다.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18120" y="3840480"/>
            <a:ext cx="3931920" cy="502920"/>
          </a:xfrm>
          <a:prstGeom prst="roundRect">
            <a:avLst>
              <a:gd name="adj" fmla="val 12000"/>
            </a:avLst>
          </a:prstGeom>
          <a:solidFill>
            <a:srgbClr val="EAEFFA"/>
          </a:solidFill>
          <a:ln w="12700">
            <a:solidFill>
              <a:srgbClr val="5B6B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050" i="1">
                <a:solidFill>
                  <a:srgbClr val="1E2761"/>
                </a:solidFill>
                <a:latin typeface="Calibri"/>
              </a:rPr>
              <a:t>⎇ 분기  민감도(기본 50%)를 올려 재시도하거나, 캔버스에 직접 클릭+드래그로 수동 추가한다.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565392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B8C"/>
                </a:solidFill>
                <a:latin typeface="Calibri"/>
              </a:rPr>
              <a:t>Top/Bottom Analysis (존 분석) 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0" y="656539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B8C"/>
                </a:solidFill>
                <a:latin typeface="Calibri"/>
              </a:rPr>
              <a:t>3/20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E2761"/>
                </a:solidFill>
                <a:latin typeface="Cambria"/>
              </a:rPr>
              <a:t>3-1. 수동으로 원 생성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① 체크포인트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075688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② 이미지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94176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FFB020"/>
          </a:solidFill>
          <a:ln w="15875">
            <a:solidFill>
              <a:srgbClr val="C9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1050" b="1">
                <a:solidFill>
                  <a:srgbClr val="121842"/>
                </a:solidFill>
                <a:latin typeface="Calibri"/>
              </a:rPr>
              <a:t>③ 영역 설정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12664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④ 추론 실행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31152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⑤ 진행상황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49640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⑥ 결과 보정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168128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⑦ 결과 분석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9200" y="1524288"/>
            <a:ext cx="7076880" cy="449522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7_수동_원생성_완료_an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42288"/>
            <a:ext cx="7040880" cy="445922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818120" y="1417320"/>
            <a:ext cx="39319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 i="0">
                <a:solidFill>
                  <a:srgbClr val="1A1F33"/>
                </a:solidFill>
                <a:latin typeface="Calibri"/>
              </a:rPr>
              <a:t>캔버스에 클릭+드래그로 원을 수동으로 그린다. 두 번째 원부터는 중심이 "기존 원들의 평균 중심"으로 자동 강제된다(배터리 캡은 항상 동심원이라는 전제).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18120" y="3840480"/>
            <a:ext cx="3931920" cy="621792"/>
          </a:xfrm>
          <a:prstGeom prst="roundRect">
            <a:avLst>
              <a:gd name="adj" fmla="val 12000"/>
            </a:avLst>
          </a:prstGeom>
          <a:solidFill>
            <a:srgbClr val="FFF4DC"/>
          </a:solidFill>
          <a:ln w="12700">
            <a:solidFill>
              <a:srgbClr val="C9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100">
                <a:solidFill>
                  <a:srgbClr val="7A4F00"/>
                </a:solidFill>
                <a:latin typeface="Calibri"/>
              </a:rPr>
              <a:t>💡 Tip  선택한 원: **Delete**로 삭제, 우클릭 메뉴로 지름/이름 변경, 방향키로 미세 이동(**Shift**=10px), **Alt+휠**로 반지름 조절.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565392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B8C"/>
                </a:solidFill>
                <a:latin typeface="Calibri"/>
              </a:rPr>
              <a:t>Top/Bottom Analysis (존 분석) 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0" y="656539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B8C"/>
                </a:solidFill>
                <a:latin typeface="Calibri"/>
              </a:rPr>
              <a:t>4/20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E2761"/>
                </a:solidFill>
                <a:latin typeface="Cambria"/>
              </a:rPr>
              <a:t>3-1. 자동 검출 — 분기: 성공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① 체크포인트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075688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② 이미지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94176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FFB020"/>
          </a:solidFill>
          <a:ln w="15875">
            <a:solidFill>
              <a:srgbClr val="C9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1050" b="1">
                <a:solidFill>
                  <a:srgbClr val="121842"/>
                </a:solidFill>
                <a:latin typeface="Calibri"/>
              </a:rPr>
              <a:t>③ 영역 설정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12664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④ 추론 실행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31152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⑤ 진행상황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49640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⑥ 결과 보정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168128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⑦ 결과 분석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9200" y="1524288"/>
            <a:ext cx="7076880" cy="449522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10_자동검출_성공_an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42288"/>
            <a:ext cx="7040880" cy="445922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818120" y="1417320"/>
            <a:ext cx="39319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 i="0">
                <a:solidFill>
                  <a:srgbClr val="1A1F33"/>
                </a:solidFill>
                <a:latin typeface="Calibri"/>
              </a:rPr>
              <a:t>동심원 윤곽이 뚜렷한 이미지(배터리 캡 등)에서는 </a:t>
            </a:r>
            <a:r>
              <a:rPr sz="1350" b="1" i="0">
                <a:solidFill>
                  <a:srgbClr val="1A1F33"/>
                </a:solidFill>
                <a:latin typeface="Calibri"/>
              </a:rPr>
              <a:t>자동 검출</a:t>
            </a:r>
            <a:r>
              <a:rPr sz="1350" b="0" i="0">
                <a:solidFill>
                  <a:srgbClr val="1A1F33"/>
                </a:solidFill>
                <a:latin typeface="Calibri"/>
              </a:rPr>
              <a:t> 버튼 클릭만으로 원이 자동으로 그려진다.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565392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B8C"/>
                </a:solidFill>
                <a:latin typeface="Calibri"/>
              </a:rPr>
              <a:t>Top/Bottom Analysis (존 분석) 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56539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B8C"/>
                </a:solidFill>
                <a:latin typeface="Calibri"/>
              </a:rPr>
              <a:t>5/20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E2761"/>
                </a:solidFill>
                <a:latin typeface="Cambria"/>
              </a:rPr>
              <a:t>4~5. 추론 실행 / 타겟 클래스 선택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① 체크포인트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075688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② 이미지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94176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③ 영역 설정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12664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FFB020"/>
          </a:solidFill>
          <a:ln w="15875">
            <a:solidFill>
              <a:srgbClr val="C9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1050" b="1">
                <a:solidFill>
                  <a:srgbClr val="121842"/>
                </a:solidFill>
                <a:latin typeface="Calibri"/>
              </a:rPr>
              <a:t>④ 추론 실행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31152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⑤ 진행상황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49640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⑥ 결과 보정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168128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⑦ 결과 분석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9200" y="1524288"/>
            <a:ext cx="7076880" cy="449522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11_이미지B_추론실행결과_an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42288"/>
            <a:ext cx="7040880" cy="445922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818120" y="1417320"/>
            <a:ext cx="39319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 i="0">
                <a:solidFill>
                  <a:srgbClr val="1A1F33"/>
                </a:solidFill>
                <a:latin typeface="Calibri"/>
              </a:rPr>
              <a:t>영역 설정 후(또는 건너뛰어도) </a:t>
            </a:r>
            <a:r>
              <a:rPr sz="1350" b="1" i="0">
                <a:solidFill>
                  <a:srgbClr val="1A1F33"/>
                </a:solidFill>
                <a:latin typeface="Calibri"/>
              </a:rPr>
              <a:t>▶ 추론 실행</a:t>
            </a:r>
            <a:r>
              <a:rPr sz="1350" b="0" i="0">
                <a:solidFill>
                  <a:srgbClr val="1A1F33"/>
                </a:solidFill>
                <a:latin typeface="Calibri"/>
              </a:rPr>
              <a:t>을 클릭한다. 검출된 클래스가 여러 개면 드롭다운에서 타겟(녹) 클래스를 고른다.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18120" y="3840480"/>
            <a:ext cx="3931920" cy="502920"/>
          </a:xfrm>
          <a:prstGeom prst="roundRect">
            <a:avLst>
              <a:gd name="adj" fmla="val 12000"/>
            </a:avLst>
          </a:prstGeom>
          <a:solidFill>
            <a:srgbClr val="EAEFFA"/>
          </a:solidFill>
          <a:ln w="12700">
            <a:solidFill>
              <a:srgbClr val="5B6B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050" i="1">
                <a:solidFill>
                  <a:srgbClr val="1E2761"/>
                </a:solidFill>
                <a:latin typeface="Calibri"/>
              </a:rPr>
              <a:t>⎇ 분기  GPU를 쓸 수 없으면 CPU로 계속할지 묻는 진단 팝업이 먼저 뜬다.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565392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B8C"/>
                </a:solidFill>
                <a:latin typeface="Calibri"/>
              </a:rPr>
              <a:t>Top/Bottom Analysis (존 분석) 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0" y="656539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B8C"/>
                </a:solidFill>
                <a:latin typeface="Calibri"/>
              </a:rPr>
              <a:t>6/20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E2761"/>
                </a:solidFill>
                <a:latin typeface="Cambria"/>
              </a:rPr>
              <a:t>5. 진행상황 — AI 신뢰도 / 픽셀 threshold 조정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① 체크포인트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075688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② 이미지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94176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③ 영역 설정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12664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④ 추론 실행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31152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FFB020"/>
          </a:solidFill>
          <a:ln w="15875">
            <a:solidFill>
              <a:srgbClr val="C9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1050" b="1">
                <a:solidFill>
                  <a:srgbClr val="121842"/>
                </a:solidFill>
                <a:latin typeface="Calibri"/>
              </a:rPr>
              <a:t>⑤ 진행상황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49640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⑥ 결과 보정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168128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⑦ 결과 분석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9200" y="1524288"/>
            <a:ext cx="7076880" cy="449522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12_threshold_조정_an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42288"/>
            <a:ext cx="7040880" cy="445922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818120" y="1417320"/>
            <a:ext cx="39319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1" i="0">
                <a:solidFill>
                  <a:srgbClr val="1A1F33"/>
                </a:solidFill>
                <a:latin typeface="Calibri"/>
              </a:rPr>
              <a:t>AI 신뢰도</a:t>
            </a:r>
            <a:r>
              <a:rPr sz="1350" b="0" i="0">
                <a:solidFill>
                  <a:srgbClr val="1A1F33"/>
                </a:solidFill>
                <a:latin typeface="Calibri"/>
              </a:rPr>
              <a:t> 슬라이더와 </a:t>
            </a:r>
            <a:r>
              <a:rPr sz="1350" b="1" i="0">
                <a:solidFill>
                  <a:srgbClr val="1A1F33"/>
                </a:solidFill>
                <a:latin typeface="Calibri"/>
              </a:rPr>
              <a:t>픽셀 threshold</a:t>
            </a:r>
            <a:r>
              <a:rPr sz="1350" b="0" i="0">
                <a:solidFill>
                  <a:srgbClr val="1A1F33"/>
                </a:solidFill>
                <a:latin typeface="Calibri"/>
              </a:rPr>
              <a:t> 스핀박스로 재추론 없이(numpy 연산만으로) 즉시 필터링 결과를 바꿀 수 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565392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B8C"/>
                </a:solidFill>
                <a:latin typeface="Calibri"/>
              </a:rPr>
              <a:t>Top/Bottom Analysis (존 분석) 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56539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B8C"/>
                </a:solidFill>
                <a:latin typeface="Calibri"/>
              </a:rPr>
              <a:t>7/20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E2761"/>
                </a:solidFill>
                <a:latin typeface="Cambria"/>
              </a:rPr>
              <a:t>6-1. 오버레이 불투명도 조정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① 체크포인트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075688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② 이미지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94176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③ 영역 설정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12664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④ 추론 실행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31152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⑤ 진행상황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49640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FFB020"/>
          </a:solidFill>
          <a:ln w="15875">
            <a:solidFill>
              <a:srgbClr val="C9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1050" b="1">
                <a:solidFill>
                  <a:srgbClr val="121842"/>
                </a:solidFill>
                <a:latin typeface="Calibri"/>
              </a:rPr>
              <a:t>⑥ 결과 보정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168128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⑦ 결과 분석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9200" y="1524288"/>
            <a:ext cx="7076880" cy="449522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13_불투명도_조정_an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42288"/>
            <a:ext cx="7040880" cy="445922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818120" y="1417320"/>
            <a:ext cx="39319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 i="0">
                <a:solidFill>
                  <a:srgbClr val="1A1F33"/>
                </a:solidFill>
                <a:latin typeface="Calibri"/>
              </a:rPr>
              <a:t>캔버스 상단 </a:t>
            </a:r>
            <a:r>
              <a:rPr sz="1350" b="1" i="0">
                <a:solidFill>
                  <a:srgbClr val="1A1F33"/>
                </a:solidFill>
                <a:latin typeface="Calibri"/>
              </a:rPr>
              <a:t>오버레이 불투명도</a:t>
            </a:r>
            <a:r>
              <a:rPr sz="1350" b="0" i="0">
                <a:solidFill>
                  <a:srgbClr val="1A1F33"/>
                </a:solidFill>
                <a:latin typeface="Calibri"/>
              </a:rPr>
              <a:t> 슬라이더로 검출 색의 진하기를 조절한다(이미지 전환·재추론에도 값 유지).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565392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B8C"/>
                </a:solidFill>
                <a:latin typeface="Calibri"/>
              </a:rPr>
              <a:t>Top/Bottom Analysis (존 분석) 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56539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B8C"/>
                </a:solidFill>
                <a:latin typeface="Calibri"/>
              </a:rPr>
              <a:t>8/20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E2761"/>
                </a:solidFill>
                <a:latin typeface="Cambria"/>
              </a:rPr>
              <a:t>6-1. F 키로 오버레이 숨김 / 복귀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① 체크포인트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075688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② 이미지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94176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③ 영역 설정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12664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④ 추론 실행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31152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⑤ 진행상황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49640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FFB020"/>
          </a:solidFill>
          <a:ln w="15875">
            <a:solidFill>
              <a:srgbClr val="C9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1050" b="1">
                <a:solidFill>
                  <a:srgbClr val="121842"/>
                </a:solidFill>
                <a:latin typeface="Calibri"/>
              </a:rPr>
              <a:t>⑥ 결과 보정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168128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⑦ 결과 분석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9200" y="2668050"/>
            <a:ext cx="3465000" cy="22077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14_결과_숨김_F키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686050"/>
            <a:ext cx="3429000" cy="21717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4051080" y="2668050"/>
            <a:ext cx="3465000" cy="22077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15_결과_다시보임_F키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9080" y="2686050"/>
            <a:ext cx="3429000" cy="21717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818120" y="1417320"/>
            <a:ext cx="39319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 i="0">
                <a:solidFill>
                  <a:srgbClr val="1A1F33"/>
                </a:solidFill>
                <a:latin typeface="Calibri"/>
              </a:rPr>
              <a:t>캔버스에 포커스가 있을 때 </a:t>
            </a:r>
            <a:r>
              <a:rPr sz="1350" b="1" i="0">
                <a:solidFill>
                  <a:srgbClr val="1A1F33"/>
                </a:solidFill>
                <a:latin typeface="Calibri"/>
              </a:rPr>
              <a:t>F</a:t>
            </a:r>
            <a:r>
              <a:rPr sz="1350" b="0" i="0">
                <a:solidFill>
                  <a:srgbClr val="1A1F33"/>
                </a:solidFill>
                <a:latin typeface="Calibri"/>
              </a:rPr>
              <a:t> 키로 오버레이를 껐다 켤 수 있다 — 원본 사진과 비교할 때 유용하다(왼쪽: 숨김 / 오른쪽: 복귀).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18120" y="3840480"/>
            <a:ext cx="3931920" cy="384048"/>
          </a:xfrm>
          <a:prstGeom prst="roundRect">
            <a:avLst>
              <a:gd name="adj" fmla="val 12000"/>
            </a:avLst>
          </a:prstGeom>
          <a:solidFill>
            <a:srgbClr val="FFF4DC"/>
          </a:solidFill>
          <a:ln w="12700">
            <a:solidFill>
              <a:srgbClr val="C9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100">
                <a:solidFill>
                  <a:srgbClr val="7A4F00"/>
                </a:solidFill>
                <a:latin typeface="Calibri"/>
              </a:rPr>
              <a:t>💡 Tip  **F** 키 — 캔버스 포커스 상태에서만 동작.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565392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B8C"/>
                </a:solidFill>
                <a:latin typeface="Calibri"/>
              </a:rPr>
              <a:t>Top/Bottom Analysis (존 분석) 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0" y="656539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B8C"/>
                </a:solidFill>
                <a:latin typeface="Calibri"/>
              </a:rPr>
              <a:t>9/20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E2761"/>
                </a:solidFill>
                <a:latin typeface="Cambria"/>
              </a:rPr>
              <a:t>6-2. 브러시로 그리기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① 체크포인트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075688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② 이미지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94176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③ 영역 설정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12664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④ 추론 실행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31152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⑤ 진행상황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49640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FFB020"/>
          </a:solidFill>
          <a:ln w="15875">
            <a:solidFill>
              <a:srgbClr val="C9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1050" b="1">
                <a:solidFill>
                  <a:srgbClr val="121842"/>
                </a:solidFill>
                <a:latin typeface="Calibri"/>
              </a:rPr>
              <a:t>⑥ 결과 보정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168128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⑦ 결과 분석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9200" y="1524288"/>
            <a:ext cx="7076880" cy="449522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16_브러시그리기_커밋_an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42288"/>
            <a:ext cx="7040880" cy="445922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818120" y="1417320"/>
            <a:ext cx="39319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 i="0">
                <a:solidFill>
                  <a:srgbClr val="1A1F33"/>
                </a:solidFill>
                <a:latin typeface="Calibri"/>
              </a:rPr>
              <a:t>상단 툴바에서 </a:t>
            </a:r>
            <a:r>
              <a:rPr sz="1350" b="1" i="0">
                <a:solidFill>
                  <a:srgbClr val="1A1F33"/>
                </a:solidFill>
                <a:latin typeface="Calibri"/>
              </a:rPr>
              <a:t>그리기</a:t>
            </a:r>
            <a:r>
              <a:rPr sz="1350" b="0" i="0">
                <a:solidFill>
                  <a:srgbClr val="1A1F33"/>
                </a:solidFill>
                <a:latin typeface="Calibri"/>
              </a:rPr>
              <a:t> 도구를 선택해 AI가 놓친 영역을 수동으로 추가한다. 손을 떼는 즉시(커밋) 그 영역이 AI 검출 영역과 </a:t>
            </a:r>
            <a:r>
              <a:rPr sz="1350" b="1" i="0">
                <a:solidFill>
                  <a:srgbClr val="1A1F33"/>
                </a:solidFill>
                <a:latin typeface="Calibri"/>
              </a:rPr>
              <a:t>완전히 같은 색·불투명도</a:t>
            </a:r>
            <a:r>
              <a:rPr sz="1350" b="0" i="0">
                <a:solidFill>
                  <a:srgbClr val="1A1F33"/>
                </a:solidFill>
                <a:latin typeface="Calibri"/>
              </a:rPr>
              <a:t>로 칠해진다.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565392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B8C"/>
                </a:solidFill>
                <a:latin typeface="Calibri"/>
              </a:rPr>
              <a:t>Top/Bottom Analysis (존 분석) 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56539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B8C"/>
                </a:solidFill>
                <a:latin typeface="Calibri"/>
              </a:rPr>
              <a:t>10/20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E2761"/>
                </a:solidFill>
                <a:latin typeface="Cambria"/>
              </a:rPr>
              <a:t>6-2. 브러시로 지우기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① 체크포인트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075688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② 이미지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94176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③ 영역 설정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12664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④ 추론 실행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31152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⑤ 진행상황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49640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FFB020"/>
          </a:solidFill>
          <a:ln w="15875">
            <a:solidFill>
              <a:srgbClr val="C9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1050" b="1">
                <a:solidFill>
                  <a:srgbClr val="121842"/>
                </a:solidFill>
                <a:latin typeface="Calibri"/>
              </a:rPr>
              <a:t>⑥ 결과 보정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168128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⑦ 결과 분석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9200" y="1524288"/>
            <a:ext cx="7076880" cy="449522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17_브러시지우기_커밋_an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42288"/>
            <a:ext cx="7040880" cy="445922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818120" y="1417320"/>
            <a:ext cx="39319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1" i="0">
                <a:solidFill>
                  <a:srgbClr val="1A1F33"/>
                </a:solidFill>
                <a:latin typeface="Calibri"/>
              </a:rPr>
              <a:t>지우개</a:t>
            </a:r>
            <a:r>
              <a:rPr sz="1350" b="0" i="0">
                <a:solidFill>
                  <a:srgbClr val="1A1F33"/>
                </a:solidFill>
                <a:latin typeface="Calibri"/>
              </a:rPr>
              <a:t> 도구로 AI가 잘못 검출한 영역을 제거한다. 커밋되면 회색 틴트가 남지 않고 </a:t>
            </a:r>
            <a:r>
              <a:rPr sz="1350" b="1" i="0">
                <a:solidFill>
                  <a:srgbClr val="1A1F33"/>
                </a:solidFill>
                <a:latin typeface="Calibri"/>
              </a:rPr>
              <a:t>원본 이미지 픽셀 색 그대로</a:t>
            </a:r>
            <a:r>
              <a:rPr sz="1350" b="0" i="0">
                <a:solidFill>
                  <a:srgbClr val="1A1F33"/>
                </a:solidFill>
                <a:latin typeface="Calibri"/>
              </a:rPr>
              <a:t> 돌아간다.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565392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B8C"/>
                </a:solidFill>
                <a:latin typeface="Calibri"/>
              </a:rPr>
              <a:t>Top/Bottom Analysis (존 분석) 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56539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B8C"/>
                </a:solidFill>
                <a:latin typeface="Calibri"/>
              </a:rPr>
              <a:t>11/20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E2761"/>
                </a:solidFill>
                <a:latin typeface="Cambria"/>
              </a:rPr>
              <a:t>6-3. 블랍 삭제 모드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① 체크포인트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075688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② 이미지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94176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③ 영역 설정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12664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④ 추론 실행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31152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⑤ 진행상황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49640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FFB020"/>
          </a:solidFill>
          <a:ln w="15875">
            <a:solidFill>
              <a:srgbClr val="C9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1050" b="1">
                <a:solidFill>
                  <a:srgbClr val="121842"/>
                </a:solidFill>
                <a:latin typeface="Calibri"/>
              </a:rPr>
              <a:t>⑥ 결과 보정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168128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⑦ 결과 분석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9200" y="1524288"/>
            <a:ext cx="7076880" cy="449522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18_블랍삭제_실행_an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42288"/>
            <a:ext cx="7040880" cy="445922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818120" y="1417320"/>
            <a:ext cx="39319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1" i="0">
                <a:solidFill>
                  <a:srgbClr val="1A1F33"/>
                </a:solidFill>
                <a:latin typeface="Calibri"/>
              </a:rPr>
              <a:t>영역삭제</a:t>
            </a:r>
            <a:r>
              <a:rPr sz="1350" b="0" i="0">
                <a:solidFill>
                  <a:srgbClr val="1A1F33"/>
                </a:solidFill>
                <a:latin typeface="Calibri"/>
              </a:rPr>
              <a:t>(블랍 삭제) 도구를 선택하고 블랍을 클릭하면 그 연결영역 전체가 한 번에 제거된다. 제거된 블랍은 빨간 바운딩 박스로 표시된다(의도적 단순화).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565392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B8C"/>
                </a:solidFill>
                <a:latin typeface="Calibri"/>
              </a:rPr>
              <a:t>Top/Bottom Analysis (존 분석) 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56539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B8C"/>
                </a:solidFill>
                <a:latin typeface="Calibri"/>
              </a:rPr>
              <a:t>12/20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E2761"/>
                </a:solidFill>
                <a:latin typeface="Cambria"/>
              </a:rPr>
              <a:t>6-4. 실행 취소(Undo)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① 체크포인트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075688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② 이미지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94176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③ 영역 설정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12664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④ 추론 실행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31152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⑤ 진행상황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49640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FFB020"/>
          </a:solidFill>
          <a:ln w="15875">
            <a:solidFill>
              <a:srgbClr val="C9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1050" b="1">
                <a:solidFill>
                  <a:srgbClr val="121842"/>
                </a:solidFill>
                <a:latin typeface="Calibri"/>
              </a:rPr>
              <a:t>⑥ 결과 보정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168128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⑦ 결과 분석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9200" y="1524288"/>
            <a:ext cx="7076880" cy="449522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19_Undo_실행_an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42288"/>
            <a:ext cx="7040880" cy="445922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818120" y="1417320"/>
            <a:ext cx="39319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 i="0">
                <a:solidFill>
                  <a:srgbClr val="1A1F33"/>
                </a:solidFill>
                <a:latin typeface="Calibri"/>
              </a:rPr>
              <a:t>원 편집·블랍삭제·브러시 그리기/지우기는 </a:t>
            </a:r>
            <a:r>
              <a:rPr sz="1350" b="1" i="0">
                <a:solidFill>
                  <a:srgbClr val="1A1F33"/>
                </a:solidFill>
                <a:latin typeface="Calibri"/>
              </a:rPr>
              <a:t>하나의 통합 Undo 스택</a:t>
            </a:r>
            <a:r>
              <a:rPr sz="1350" b="0" i="0">
                <a:solidFill>
                  <a:srgbClr val="1A1F33"/>
                </a:solidFill>
                <a:latin typeface="Calibri"/>
              </a:rPr>
              <a:t>에 쌓인다. 되돌리기(↶) 버튼 또는 Ctrl+Z로 직전 동작 하나만 되돌린다.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18120" y="3840480"/>
            <a:ext cx="3931920" cy="384048"/>
          </a:xfrm>
          <a:prstGeom prst="roundRect">
            <a:avLst>
              <a:gd name="adj" fmla="val 12000"/>
            </a:avLst>
          </a:prstGeom>
          <a:solidFill>
            <a:srgbClr val="FFF4DC"/>
          </a:solidFill>
          <a:ln w="12700">
            <a:solidFill>
              <a:srgbClr val="C9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100">
                <a:solidFill>
                  <a:srgbClr val="7A4F00"/>
                </a:solidFill>
                <a:latin typeface="Calibri"/>
              </a:rPr>
              <a:t>💡 Tip  **Ctrl+Z** — 통합 스택에서 마지막 1건만 되돌림.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565392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B8C"/>
                </a:solidFill>
                <a:latin typeface="Calibri"/>
              </a:rPr>
              <a:t>Top/Bottom Analysis (존 분석) 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0" y="656539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B8C"/>
                </a:solidFill>
                <a:latin typeface="Calibri"/>
              </a:rPr>
              <a:t>13/20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E2761"/>
                </a:solidFill>
                <a:latin typeface="Cambria"/>
              </a:rPr>
              <a:t>7. 존 리스트에서 결과 확인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① 체크포인트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075688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② 이미지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94176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③ 영역 설정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12664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④ 추론 실행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31152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⑤ 진행상황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49640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⑥ 결과 보정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168128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FFB020"/>
          </a:solidFill>
          <a:ln w="15875">
            <a:solidFill>
              <a:srgbClr val="C9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1050" b="1">
                <a:solidFill>
                  <a:srgbClr val="121842"/>
                </a:solidFill>
                <a:latin typeface="Calibri"/>
              </a:rPr>
              <a:t>⑦ 결과 분석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9200" y="1524288"/>
            <a:ext cx="7076880" cy="449522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20_존리스트_확인_an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42288"/>
            <a:ext cx="7040880" cy="445922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818120" y="1417320"/>
            <a:ext cx="39319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 i="0">
                <a:solidFill>
                  <a:srgbClr val="1A1F33"/>
                </a:solidFill>
                <a:latin typeface="Calibri"/>
              </a:rPr>
              <a:t>우측 패널 </a:t>
            </a:r>
            <a:r>
              <a:rPr sz="1350" b="1" i="0">
                <a:solidFill>
                  <a:srgbClr val="1A1F33"/>
                </a:solidFill>
                <a:latin typeface="Calibri"/>
              </a:rPr>
              <a:t>존 리스트</a:t>
            </a:r>
            <a:r>
              <a:rPr sz="1350" b="0" i="0">
                <a:solidFill>
                  <a:srgbClr val="1A1F33"/>
                </a:solidFill>
                <a:latin typeface="Calibri"/>
              </a:rPr>
              <a:t>에서 각 zone(중심부/바깥쪽 등)의 타겟 클래스 비율(%)과 해당 zone 안 최대 blob 픽셀 수를 확인한다. 행 클릭 시 캔버스에서 노란색 하이라이트된다.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565392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B8C"/>
                </a:solidFill>
                <a:latin typeface="Calibri"/>
              </a:rPr>
              <a:t>Top/Bottom Analysis (존 분석) 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56539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B8C"/>
                </a:solidFill>
                <a:latin typeface="Calibri"/>
              </a:rPr>
              <a:t>14/20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E2761"/>
                </a:solidFill>
                <a:latin typeface="Cambria"/>
              </a:rPr>
              <a:t>7. 현재 이미지 결과 보기 / 내보내기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① 체크포인트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075688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② 이미지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94176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③ 영역 설정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12664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④ 추론 실행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31152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⑤ 진행상황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49640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⑥ 결과 보정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168128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FFB020"/>
          </a:solidFill>
          <a:ln w="15875">
            <a:solidFill>
              <a:srgbClr val="C9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1050" b="1">
                <a:solidFill>
                  <a:srgbClr val="121842"/>
                </a:solidFill>
                <a:latin typeface="Calibri"/>
              </a:rPr>
              <a:t>⑦ 결과 분석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5954" y="1399320"/>
            <a:ext cx="6763371" cy="4745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21_결과분석_단일이미지_an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954" y="1417320"/>
            <a:ext cx="6727371" cy="47091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818120" y="1417320"/>
            <a:ext cx="39319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1" i="0">
                <a:solidFill>
                  <a:srgbClr val="1A1F33"/>
                </a:solidFill>
                <a:latin typeface="Calibri"/>
              </a:rPr>
              <a:t>현재 이미지 결과 보기</a:t>
            </a:r>
            <a:r>
              <a:rPr sz="1350" b="0" i="0">
                <a:solidFill>
                  <a:srgbClr val="1A1F33"/>
                </a:solidFill>
                <a:latin typeface="Calibri"/>
              </a:rPr>
              <a:t> 버튼으로 존별 비율 표를 보고 </a:t>
            </a:r>
            <a:r>
              <a:rPr sz="1350" b="1" i="0">
                <a:solidFill>
                  <a:srgbClr val="1A1F33"/>
                </a:solidFill>
                <a:latin typeface="Calibri"/>
              </a:rPr>
              <a:t>Excel로 내보내기</a:t>
            </a:r>
            <a:r>
              <a:rPr sz="1350" b="0" i="0">
                <a:solidFill>
                  <a:srgbClr val="1A1F33"/>
                </a:solidFill>
                <a:latin typeface="Calibri"/>
              </a:rPr>
              <a:t>로 저장한다. 여러 이미지는 "전체 결과 보기"로 모아 본다.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565392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B8C"/>
                </a:solidFill>
                <a:latin typeface="Calibri"/>
              </a:rPr>
              <a:t>Top/Bottom Analysis (존 분석) 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56539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B8C"/>
                </a:solidFill>
                <a:latin typeface="Calibri"/>
              </a:rPr>
              <a:t>15/20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E2761"/>
                </a:solidFill>
                <a:latin typeface="Cambria"/>
              </a:rPr>
              <a:t>배치 — Zone 결정 방법 선택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① 체크포인트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075688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② 이미지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94176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③ 영역 설정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12664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④ 추론 실행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31152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⑤ 진행상황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49640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⑥ 결과 보정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168128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FFB020"/>
          </a:solidFill>
          <a:ln w="15875">
            <a:solidFill>
              <a:srgbClr val="C9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1050" b="1">
                <a:solidFill>
                  <a:srgbClr val="121842"/>
                </a:solidFill>
                <a:latin typeface="Calibri"/>
              </a:rPr>
              <a:t>⑦ 결과 분석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9200" y="1524288"/>
            <a:ext cx="7076880" cy="449522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22_배치모드_선택_an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42288"/>
            <a:ext cx="7040880" cy="445922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818120" y="1417320"/>
            <a:ext cx="39319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 i="0">
                <a:solidFill>
                  <a:srgbClr val="1A1F33"/>
                </a:solidFill>
                <a:latin typeface="Calibri"/>
              </a:rPr>
              <a:t>2장 이상 + 기준 이미지에 원이 1개 이상 있으면 </a:t>
            </a:r>
            <a:r>
              <a:rPr sz="1350" b="1" i="0">
                <a:solidFill>
                  <a:srgbClr val="1A1F33"/>
                </a:solidFill>
                <a:latin typeface="Calibri"/>
              </a:rPr>
              <a:t>Zone 결정 방법</a:t>
            </a:r>
            <a:r>
              <a:rPr sz="1350" b="0" i="0">
                <a:solidFill>
                  <a:srgbClr val="1A1F33"/>
                </a:solidFill>
                <a:latin typeface="Calibri"/>
              </a:rPr>
              <a:t> 콤보에서 일괄 적용 / 일괄 적용 후 수정 / 장별 적용 중 고르고 "선택 이미지 일괄 처리"를 클릭한다.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565392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B8C"/>
                </a:solidFill>
                <a:latin typeface="Calibri"/>
              </a:rPr>
              <a:t>Top/Bottom Analysis (존 분석) 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56539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B8C"/>
                </a:solidFill>
                <a:latin typeface="Calibri"/>
              </a:rPr>
              <a:t>16/20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E2761"/>
                </a:solidFill>
                <a:latin typeface="Cambria"/>
              </a:rPr>
              <a:t>배치 — 분기: 기존 Zone 확인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① 체크포인트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075688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② 이미지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94176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③ 영역 설정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12664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④ 추론 실행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31152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⑤ 진행상황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49640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⑥ 결과 보정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168128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FFB020"/>
          </a:solidFill>
          <a:ln w="15875">
            <a:solidFill>
              <a:srgbClr val="C9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1050" b="1">
                <a:solidFill>
                  <a:srgbClr val="121842"/>
                </a:solidFill>
                <a:latin typeface="Calibri"/>
              </a:rPr>
              <a:t>⑦ 결과 분석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9200" y="2945503"/>
            <a:ext cx="7076880" cy="1652794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23_기존Zone_확인다이얼로그_an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963503"/>
            <a:ext cx="7040880" cy="161679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818120" y="1417320"/>
            <a:ext cx="39319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 i="0">
                <a:solidFill>
                  <a:srgbClr val="1A1F33"/>
                </a:solidFill>
                <a:latin typeface="Calibri"/>
              </a:rPr>
              <a:t>이미 Zone 편집 이력(사이드카)이 있는 이미지가 섞여 있으면 어떻게 할지 확인창이 뜬다.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18120" y="3840480"/>
            <a:ext cx="3931920" cy="502920"/>
          </a:xfrm>
          <a:prstGeom prst="roundRect">
            <a:avLst>
              <a:gd name="adj" fmla="val 12000"/>
            </a:avLst>
          </a:prstGeom>
          <a:solidFill>
            <a:srgbClr val="EAEFFA"/>
          </a:solidFill>
          <a:ln w="12700">
            <a:solidFill>
              <a:srgbClr val="5B6B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050" i="1">
                <a:solidFill>
                  <a:srgbClr val="1E2761"/>
                </a:solidFill>
                <a:latin typeface="Calibri"/>
              </a:rPr>
              <a:t>⎇ 분기  전체 교체 / 존 없는 이미지만 적용 / 취소 중 선택.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565392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B8C"/>
                </a:solidFill>
                <a:latin typeface="Calibri"/>
              </a:rPr>
              <a:t>Top/Bottom Analysis (존 분석) 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0" y="656539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B8C"/>
                </a:solidFill>
                <a:latin typeface="Calibri"/>
              </a:rPr>
              <a:t>17/20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E2761"/>
                </a:solidFill>
                <a:latin typeface="Cambria"/>
              </a:rPr>
              <a:t>배치 처리 완료 — 전체 결과 표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① 체크포인트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075688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② 이미지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94176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③ 영역 설정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12664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④ 추론 실행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31152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⑤ 진행상황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49640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⑥ 결과 보정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168128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FFB020"/>
          </a:solidFill>
          <a:ln w="15875">
            <a:solidFill>
              <a:srgbClr val="C9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1050" b="1">
                <a:solidFill>
                  <a:srgbClr val="121842"/>
                </a:solidFill>
                <a:latin typeface="Calibri"/>
              </a:rPr>
              <a:t>⑦ 결과 분석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5954" y="1399320"/>
            <a:ext cx="6763371" cy="4745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24_배치완료_결과다이얼로그_an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954" y="1417320"/>
            <a:ext cx="6727371" cy="47091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818120" y="1417320"/>
            <a:ext cx="39319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 i="0">
                <a:solidFill>
                  <a:srgbClr val="1A1F33"/>
                </a:solidFill>
                <a:latin typeface="Calibri"/>
              </a:rPr>
              <a:t>처리가 끝나면 전체 이미지의 존별 결과 표가 자동으로 뜬다. 여기서도 </a:t>
            </a:r>
            <a:r>
              <a:rPr sz="1350" b="1" i="0">
                <a:solidFill>
                  <a:srgbClr val="1A1F33"/>
                </a:solidFill>
                <a:latin typeface="Calibri"/>
              </a:rPr>
              <a:t>Excel로 내보내기</a:t>
            </a:r>
            <a:r>
              <a:rPr sz="1350" b="0" i="0">
                <a:solidFill>
                  <a:srgbClr val="1A1F33"/>
                </a:solidFill>
                <a:latin typeface="Calibri"/>
              </a:rPr>
              <a:t>로 저장할 수 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565392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B8C"/>
                </a:solidFill>
                <a:latin typeface="Calibri"/>
              </a:rPr>
              <a:t>Top/Bottom Analysis (존 분석) 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56539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B8C"/>
                </a:solidFill>
                <a:latin typeface="Calibri"/>
              </a:rPr>
              <a:t>18/20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E2761"/>
                </a:solidFill>
                <a:latin typeface="Cambria"/>
              </a:rPr>
              <a:t>Top/Bottom Analysis (존 분석) 탭 — 전체 흐름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554480"/>
            <a:ext cx="1417320" cy="82296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① 체크포인트</a:t>
            </a:r>
          </a:p>
        </p:txBody>
      </p:sp>
      <p:sp>
        <p:nvSpPr>
          <p:cNvPr id="4" name="Right Arrow 3"/>
          <p:cNvSpPr/>
          <p:nvPr/>
        </p:nvSpPr>
        <p:spPr>
          <a:xfrm>
            <a:off x="1874520" y="1874520"/>
            <a:ext cx="225552" cy="182880"/>
          </a:xfrm>
          <a:prstGeom prst="rightArrow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100072" y="1554480"/>
            <a:ext cx="1417320" cy="82296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② 이미지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517392" y="1874520"/>
            <a:ext cx="225552" cy="182880"/>
          </a:xfrm>
          <a:prstGeom prst="rightArrow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742944" y="1554480"/>
            <a:ext cx="1417320" cy="82296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③ 영역 설정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160264" y="1874520"/>
            <a:ext cx="225552" cy="182880"/>
          </a:xfrm>
          <a:prstGeom prst="rightArrow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385816" y="1554480"/>
            <a:ext cx="1417320" cy="82296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④ 추론 실행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803136" y="1874520"/>
            <a:ext cx="225552" cy="182880"/>
          </a:xfrm>
          <a:prstGeom prst="rightArrow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028688" y="1554480"/>
            <a:ext cx="1417320" cy="82296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⑤ 진행상황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446008" y="1874520"/>
            <a:ext cx="225552" cy="182880"/>
          </a:xfrm>
          <a:prstGeom prst="rightArrow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671560" y="1554480"/>
            <a:ext cx="1417320" cy="82296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⑥ 결과 보정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10088880" y="1874520"/>
            <a:ext cx="225552" cy="182880"/>
          </a:xfrm>
          <a:prstGeom prst="rightArrow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314432" y="1554480"/>
            <a:ext cx="1417320" cy="82296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⑦ 결과 분석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68624" y="2788920"/>
            <a:ext cx="1965960" cy="868680"/>
          </a:xfrm>
          <a:prstGeom prst="roundRect">
            <a:avLst>
              <a:gd name="adj" fmla="val 12000"/>
            </a:avLst>
          </a:prstGeom>
          <a:solidFill>
            <a:srgbClr val="EAEFFA"/>
          </a:solidFill>
          <a:ln w="12700">
            <a:solidFill>
              <a:srgbClr val="5B6B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50" i="1">
                <a:solidFill>
                  <a:srgbClr val="1E2761"/>
                </a:solidFill>
                <a:latin typeface="Calibri"/>
              </a:rPr>
              <a:t>동심원 검출 실패 → 민감도 조절/수동 추가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451604" y="2377440"/>
            <a:ext cx="0" cy="411480"/>
          </a:xfrm>
          <a:prstGeom prst="line">
            <a:avLst/>
          </a:prstGeom>
          <a:ln w="12700">
            <a:solidFill>
              <a:srgbClr val="5B6B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111496" y="2788920"/>
            <a:ext cx="1965960" cy="868680"/>
          </a:xfrm>
          <a:prstGeom prst="roundRect">
            <a:avLst>
              <a:gd name="adj" fmla="val 12000"/>
            </a:avLst>
          </a:prstGeom>
          <a:solidFill>
            <a:srgbClr val="EAEFFA"/>
          </a:solidFill>
          <a:ln w="12700">
            <a:solidFill>
              <a:srgbClr val="5B6B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50" i="1">
                <a:solidFill>
                  <a:srgbClr val="1E2761"/>
                </a:solidFill>
                <a:latin typeface="Calibri"/>
              </a:rPr>
              <a:t>GPU 없음 → CPU 진행 확인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94476" y="2377440"/>
            <a:ext cx="0" cy="411480"/>
          </a:xfrm>
          <a:prstGeom prst="line">
            <a:avLst/>
          </a:prstGeom>
          <a:ln w="12700">
            <a:solidFill>
              <a:srgbClr val="5B6B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57200" y="6565392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B8C"/>
                </a:solidFill>
                <a:latin typeface="Calibri"/>
              </a:rPr>
              <a:t>Top/Bottom Analysis (존 분석) 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56539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B8C"/>
                </a:solidFill>
                <a:latin typeface="Calibri"/>
              </a:rPr>
              <a:t>19/20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1E2761"/>
                </a:solidFill>
                <a:latin typeface="Cambria"/>
              </a:rPr>
              <a:t>Top/Bottom Analysis (존 분석) 탭 — 추천 파라미터 / 설정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60120"/>
          <a:ext cx="11274549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3115"/>
                <a:gridCol w="2033115"/>
                <a:gridCol w="3326916"/>
                <a:gridCol w="3881403"/>
              </a:tblGrid>
              <a:tr h="783771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항목</a:t>
                      </a:r>
                    </a:p>
                  </a:txBody>
                  <a:tcPr anchor="ctr" marL="73152" marR="7315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코드 기본값</a:t>
                      </a:r>
                    </a:p>
                  </a:txBody>
                  <a:tcPr anchor="ctr" marL="73152" marR="7315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실무 권장값</a:t>
                      </a:r>
                    </a:p>
                  </a:txBody>
                  <a:tcPr anchor="ctr" marL="73152" marR="7315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비고</a:t>
                      </a:r>
                    </a:p>
                  </a:txBody>
                  <a:tcPr anchor="ctr" marL="73152" marR="73152">
                    <a:solidFill>
                      <a:srgbClr val="1E2761"/>
                    </a:solidFill>
                  </a:tcPr>
                </a:tc>
              </a:tr>
              <a:tr h="783771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F33"/>
                          </a:solidFill>
                          <a:latin typeface="Calibri"/>
                        </a:rPr>
                        <a:t>AI 신뢰도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F33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F33"/>
                          </a:solidFill>
                          <a:latin typeface="Calibri"/>
                        </a:rPr>
                        <a:t>0%로 전체 검출 본 뒤 10~30%까지 점진 상향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F33"/>
                          </a:solidFill>
                          <a:latin typeface="Calibri"/>
                        </a:rPr>
                        <a:t>재추론 없이 즉시 반영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783771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F33"/>
                          </a:solidFill>
                          <a:latin typeface="Calibri"/>
                        </a:rPr>
                        <a:t>픽셀 threshold</a:t>
                      </a:r>
                    </a:p>
                  </a:txBody>
                  <a:tcPr anchor="ctr" marL="73152" marR="73152" marT="36576" marB="36576">
                    <a:solidFill>
                      <a:srgbClr val="F0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F33"/>
                          </a:solidFill>
                          <a:latin typeface="Calibri"/>
                        </a:rPr>
                        <a:t>0px</a:t>
                      </a:r>
                    </a:p>
                  </a:txBody>
                  <a:tcPr anchor="ctr" marL="73152" marR="73152" marT="36576" marB="36576">
                    <a:solidFill>
                      <a:srgbClr val="F0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F33"/>
                          </a:solidFill>
                          <a:latin typeface="Calibri"/>
                        </a:rPr>
                        <a:t>5~30px</a:t>
                      </a:r>
                    </a:p>
                  </a:txBody>
                  <a:tcPr anchor="ctr" marL="73152" marR="73152" marT="36576" marB="36576">
                    <a:solidFill>
                      <a:srgbClr val="F0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F33"/>
                          </a:solidFill>
                          <a:latin typeface="Calibri"/>
                        </a:rPr>
                        <a:t>너무 크면 실제 미세 녹까지 걸러짐</a:t>
                      </a:r>
                    </a:p>
                  </a:txBody>
                  <a:tcPr anchor="ctr" marL="73152" marR="73152" marT="36576" marB="36576">
                    <a:solidFill>
                      <a:srgbClr val="F0F3FA"/>
                    </a:solidFill>
                  </a:tcPr>
                </a:tc>
              </a:tr>
              <a:tr h="783771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F33"/>
                          </a:solidFill>
                          <a:latin typeface="Calibri"/>
                        </a:rPr>
                        <a:t>원(Zone) 자동검출 민감도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F33"/>
                          </a:solidFill>
                          <a:latin typeface="Calibri"/>
                        </a:rPr>
                        <a:t>50%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F33"/>
                          </a:solidFill>
                          <a:latin typeface="Calibri"/>
                        </a:rPr>
                        <a:t>금속광택/그림자 심하면 60~80%, 깔끔하면 30~40%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F33"/>
                          </a:solidFill>
                          <a:latin typeface="Calibri"/>
                        </a:rPr>
                        <a:t>0.0(엄격)~1.0(관대)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783771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F33"/>
                          </a:solidFill>
                          <a:latin typeface="Calibri"/>
                        </a:rPr>
                        <a:t>오버레이 불투명도</a:t>
                      </a:r>
                    </a:p>
                  </a:txBody>
                  <a:tcPr anchor="ctr" marL="73152" marR="73152" marT="36576" marB="36576">
                    <a:solidFill>
                      <a:srgbClr val="F0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F33"/>
                          </a:solidFill>
                          <a:latin typeface="Calibri"/>
                        </a:rPr>
                        <a:t>50%</a:t>
                      </a:r>
                    </a:p>
                  </a:txBody>
                  <a:tcPr anchor="ctr" marL="73152" marR="73152" marT="36576" marB="36576">
                    <a:solidFill>
                      <a:srgbClr val="F0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F33"/>
                          </a:solidFill>
                          <a:latin typeface="Calibri"/>
                        </a:rPr>
                        <a:t>꼼꼼히 볼 땐 70~90%, 원본과 겹쳐볼 땐 30~40%</a:t>
                      </a:r>
                    </a:p>
                  </a:txBody>
                  <a:tcPr anchor="ctr" marL="73152" marR="73152" marT="36576" marB="36576">
                    <a:solidFill>
                      <a:srgbClr val="F0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F33"/>
                          </a:solidFill>
                          <a:latin typeface="Calibri"/>
                        </a:rPr>
                        <a:t>세션 내 값 유지</a:t>
                      </a:r>
                    </a:p>
                  </a:txBody>
                  <a:tcPr anchor="ctr" marL="73152" marR="73152" marT="36576" marB="36576">
                    <a:solidFill>
                      <a:srgbClr val="F0F3FA"/>
                    </a:solidFill>
                  </a:tcPr>
                </a:tc>
              </a:tr>
              <a:tr h="783771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F33"/>
                          </a:solidFill>
                          <a:latin typeface="Calibri"/>
                        </a:rPr>
                        <a:t>브러시 크기(존 탭)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F33"/>
                          </a:solidFill>
                          <a:latin typeface="Calibri"/>
                        </a:rPr>
                        <a:t>30px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F33"/>
                          </a:solidFill>
                          <a:latin typeface="Calibri"/>
                        </a:rPr>
                        <a:t>일괄 보정 40~60px, 정밀 보정 10~20px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F33"/>
                          </a:solidFill>
                          <a:latin typeface="Calibri"/>
                        </a:rPr>
                        <a:t>1~200px, 그리기/지우기 공용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783774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F33"/>
                          </a:solidFill>
                          <a:latin typeface="Calibri"/>
                        </a:rPr>
                        <a:t>Zone 결정 방법(배치)</a:t>
                      </a:r>
                    </a:p>
                  </a:txBody>
                  <a:tcPr anchor="ctr" marL="73152" marR="73152" marT="36576" marB="36576">
                    <a:solidFill>
                      <a:srgbClr val="F0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F33"/>
                          </a:solidFill>
                          <a:latin typeface="Calibri"/>
                        </a:rPr>
                        <a:t>일괄 적용</a:t>
                      </a:r>
                    </a:p>
                  </a:txBody>
                  <a:tcPr anchor="ctr" marL="73152" marR="73152" marT="36576" marB="36576">
                    <a:solidFill>
                      <a:srgbClr val="F0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F33"/>
                          </a:solidFill>
                          <a:latin typeface="Calibri"/>
                        </a:rPr>
                        <a:t>같은 각도/위치 세트는 일괄 적용, 각도 편차 크면 장별 적용</a:t>
                      </a:r>
                    </a:p>
                  </a:txBody>
                  <a:tcPr anchor="ctr" marL="73152" marR="73152" marT="36576" marB="36576">
                    <a:solidFill>
                      <a:srgbClr val="F0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F33"/>
                          </a:solidFill>
                          <a:latin typeface="Calibri"/>
                        </a:rPr>
                        <a:t>'일괄 적용 후 수정'은 미세조정용</a:t>
                      </a:r>
                    </a:p>
                  </a:txBody>
                  <a:tcPr anchor="ctr" marL="73152" marR="73152" marT="36576" marB="36576">
                    <a:solidFill>
                      <a:srgbClr val="F0F3FA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565392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B8C"/>
                </a:solidFill>
                <a:latin typeface="Calibri"/>
              </a:rPr>
              <a:t>Top/Bottom Analysis (존 분석) 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56539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B8C"/>
                </a:solidFill>
                <a:latin typeface="Calibri"/>
              </a:rPr>
              <a:t>20/20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651760"/>
            <a:ext cx="82296" cy="1371600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251460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Cambria"/>
              </a:rPr>
              <a:t>R Analysis 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3566160"/>
            <a:ext cx="9144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CADCFC"/>
                </a:solidFill>
                <a:latin typeface="Calibri"/>
              </a:rPr>
              <a:t>edition 전용 — 고전적 영상처리(threshold+contour)로 ROI 안의 면적을 측정해</a:t>
            </a:r>
          </a:p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CADCFC"/>
                </a:solidFill>
                <a:latin typeface="Calibri"/>
              </a:rPr>
              <a:t>셀 단위 R값과 PASS/FAIL을 계산하는 독립 도구다.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E2761"/>
                </a:solidFill>
                <a:latin typeface="Cambria"/>
              </a:rPr>
              <a:t>1단계 — 셀(이미지 묶음) 불러오기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FFB020"/>
          </a:solidFill>
          <a:ln w="15875">
            <a:solidFill>
              <a:srgbClr val="C9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1050" b="1">
                <a:solidFill>
                  <a:srgbClr val="121842"/>
                </a:solidFill>
                <a:latin typeface="Calibri"/>
              </a:rPr>
              <a:t>셀 불러오기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075688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검사 설정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94176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ROI 지정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12664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검출 실행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31152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결과 확인·보정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49640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판정 확인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168128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결과 내보내기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9200" y="1553625"/>
            <a:ext cx="7076880" cy="443655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1_r분석_탭_첫진입_an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71625"/>
            <a:ext cx="7040880" cy="44005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818120" y="1417320"/>
            <a:ext cx="39319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1" i="0">
                <a:solidFill>
                  <a:srgbClr val="1A1F33"/>
                </a:solidFill>
                <a:latin typeface="Calibri"/>
              </a:rPr>
              <a:t>폴더로 셀 가져오기</a:t>
            </a:r>
            <a:r>
              <a:rPr sz="1350" b="0" i="0">
                <a:solidFill>
                  <a:srgbClr val="1A1F33"/>
                </a:solidFill>
                <a:latin typeface="Calibri"/>
              </a:rPr>
              <a:t> 버튼을 누르면 하위 폴더명이 각각 셀 ID가 되어 한 번에 여러 셀을 등록한다.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18120" y="3840480"/>
            <a:ext cx="3931920" cy="384048"/>
          </a:xfrm>
          <a:prstGeom prst="roundRect">
            <a:avLst>
              <a:gd name="adj" fmla="val 12000"/>
            </a:avLst>
          </a:prstGeom>
          <a:solidFill>
            <a:srgbClr val="FFF4DC"/>
          </a:solidFill>
          <a:ln w="12700">
            <a:solidFill>
              <a:srgbClr val="C9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100">
                <a:solidFill>
                  <a:srgbClr val="7A4F00"/>
                </a:solidFill>
                <a:latin typeface="Calibri"/>
              </a:rPr>
              <a:t>💡 Tip  **파일로 셀에 추가**로 개별 파일을 기존/신규 셀에 수동 추가할 수도 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565392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B8C"/>
                </a:solidFill>
                <a:latin typeface="Calibri"/>
              </a:rPr>
              <a:t>R Analysis 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0" y="656539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B8C"/>
                </a:solidFill>
                <a:latin typeface="Calibri"/>
              </a:rPr>
              <a:t>1/13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E2761"/>
                </a:solidFill>
                <a:latin typeface="Cambria"/>
              </a:rPr>
              <a:t>1단계 — 셀 선택 결과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FFB020"/>
          </a:solidFill>
          <a:ln w="15875">
            <a:solidFill>
              <a:srgbClr val="C9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1050" b="1">
                <a:solidFill>
                  <a:srgbClr val="121842"/>
                </a:solidFill>
                <a:latin typeface="Calibri"/>
              </a:rPr>
              <a:t>셀 불러오기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075688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검사 설정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94176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ROI 지정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12664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검출 실행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31152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결과 확인·보정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49640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판정 확인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168128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결과 내보내기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9200" y="1553625"/>
            <a:ext cx="7076880" cy="443655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2_셀가져오기_이미지로드_ROI도구강조_an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71625"/>
            <a:ext cx="7040880" cy="44005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818120" y="1417320"/>
            <a:ext cx="39319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 i="0">
                <a:solidFill>
                  <a:srgbClr val="1A1F33"/>
                </a:solidFill>
                <a:latin typeface="Calibri"/>
              </a:rPr>
              <a:t>셀을 선택하면 그 셀에 속한 이미지 목록과 썸네일 스트립이 나타나고, 상단 툴바에 ROI 도구가 기본 선택되어 강조 표시된다.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565392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B8C"/>
                </a:solidFill>
                <a:latin typeface="Calibri"/>
              </a:rPr>
              <a:t>R Analysis 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56539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B8C"/>
                </a:solidFill>
                <a:latin typeface="Calibri"/>
              </a:rPr>
              <a:t>2/13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E2761"/>
                </a:solidFill>
                <a:latin typeface="Cambria"/>
              </a:rPr>
              <a:t>2단계 — 검사 설정: Threshold / 분모 / 스펙 / 자동 검출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셀 불러오기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075688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FFB020"/>
          </a:solidFill>
          <a:ln w="15875">
            <a:solidFill>
              <a:srgbClr val="C9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1050" b="1">
                <a:solidFill>
                  <a:srgbClr val="121842"/>
                </a:solidFill>
                <a:latin typeface="Calibri"/>
              </a:rPr>
              <a:t>검사 설정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94176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ROI 지정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12664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검출 실행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31152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결과 확인·보정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49640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판정 확인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168128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결과 내보내기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91888" y="1399320"/>
            <a:ext cx="5171503" cy="4745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3_검사설정_threshold조정_an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9888" y="1417320"/>
            <a:ext cx="5135503" cy="47091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818120" y="1417320"/>
            <a:ext cx="39319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 i="0">
                <a:solidFill>
                  <a:srgbClr val="1A1F33"/>
                </a:solidFill>
                <a:latin typeface="Calibri"/>
              </a:rPr>
              <a:t>좌측 하단 </a:t>
            </a:r>
            <a:r>
              <a:rPr sz="1350" b="1" i="0">
                <a:solidFill>
                  <a:srgbClr val="1A1F33"/>
                </a:solidFill>
                <a:latin typeface="Calibri"/>
              </a:rPr>
              <a:t>검사 설정 열기/조정...</a:t>
            </a:r>
            <a:r>
              <a:rPr sz="1350" b="0" i="0">
                <a:solidFill>
                  <a:srgbClr val="1A1F33"/>
                </a:solidFill>
                <a:latin typeface="Calibri"/>
              </a:rPr>
              <a:t> 을 누르면 팝업이 뜬다. </a:t>
            </a:r>
            <a:r>
              <a:rPr sz="1350" b="1" i="0">
                <a:solidFill>
                  <a:srgbClr val="1A1F33"/>
                </a:solidFill>
                <a:latin typeface="Calibri"/>
              </a:rPr>
              <a:t>자동 검출 사용</a:t>
            </a:r>
            <a:r>
              <a:rPr sz="1350" b="0" i="0">
                <a:solidFill>
                  <a:srgbClr val="1A1F33"/>
                </a:solidFill>
                <a:latin typeface="Calibri"/>
              </a:rPr>
              <a:t> 체크박스로 이후 흐름이 갈린다 — 켜져 있으면 ROI+threshold+contour 자동 검출, 끄면 브러시로 그린 영역만 집계한다.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18120" y="3840480"/>
            <a:ext cx="3931920" cy="621792"/>
          </a:xfrm>
          <a:prstGeom prst="roundRect">
            <a:avLst>
              <a:gd name="adj" fmla="val 12000"/>
            </a:avLst>
          </a:prstGeom>
          <a:solidFill>
            <a:srgbClr val="FFF4DC"/>
          </a:solidFill>
          <a:ln w="12700">
            <a:solidFill>
              <a:srgbClr val="C9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100">
                <a:solidFill>
                  <a:srgbClr val="7A4F00"/>
                </a:solidFill>
                <a:latin typeface="Calibri"/>
              </a:rPr>
              <a:t>💡 Tip  Threshold 슬라이더는 조정 중 150ms 디바운스 후에만 재검출이 실행된다.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565392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B8C"/>
                </a:solidFill>
                <a:latin typeface="Calibri"/>
              </a:rPr>
              <a:t>R Analysis 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0" y="656539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B8C"/>
                </a:solidFill>
                <a:latin typeface="Calibri"/>
              </a:rPr>
              <a:t>3/13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E2761"/>
                </a:solidFill>
                <a:latin typeface="Cambria"/>
              </a:rPr>
              <a:t>3단계 — ROI(검사 영역) 사각형 지정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셀 불러오기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075688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검사 설정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94176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FFB020"/>
          </a:solidFill>
          <a:ln w="15875">
            <a:solidFill>
              <a:srgbClr val="C9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1050" b="1">
                <a:solidFill>
                  <a:srgbClr val="121842"/>
                </a:solidFill>
                <a:latin typeface="Calibri"/>
              </a:rPr>
              <a:t>ROI 지정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12664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검출 실행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31152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결과 확인·보정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49640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판정 확인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168128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결과 내보내기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9200" y="2682337"/>
            <a:ext cx="3465000" cy="2179125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4_ROI드래그_생성중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00337"/>
            <a:ext cx="3429000" cy="2143125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4051080" y="2682337"/>
            <a:ext cx="3465000" cy="2179125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05_ROI사각형_확정_an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9080" y="2700337"/>
            <a:ext cx="3429000" cy="214312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818120" y="1417320"/>
            <a:ext cx="39319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 i="0">
                <a:solidFill>
                  <a:srgbClr val="1A1F33"/>
                </a:solidFill>
                <a:latin typeface="Calibri"/>
              </a:rPr>
              <a:t>캔버스 상단 ROI 도구가 활성화된 상태에서 드래그하면 사각형 ROI가 생긴다(왼쪽: 드래그 중 / 오른쪽: 확정 — 8개 핸들로 이동·리사이즈). 검사 설정 패널의 </a:t>
            </a:r>
            <a:r>
              <a:rPr sz="1350" b="1" i="0">
                <a:solidFill>
                  <a:srgbClr val="1A1F33"/>
                </a:solidFill>
                <a:latin typeface="Calibri"/>
              </a:rPr>
              <a:t>ROI 전역 지정</a:t>
            </a:r>
            <a:r>
              <a:rPr sz="1350" b="0" i="0">
                <a:solidFill>
                  <a:srgbClr val="1A1F33"/>
                </a:solidFill>
                <a:latin typeface="Calibri"/>
              </a:rPr>
              <a:t> 또는 </a:t>
            </a:r>
            <a:r>
              <a:rPr sz="1350" b="1" i="0">
                <a:solidFill>
                  <a:srgbClr val="1A1F33"/>
                </a:solidFill>
                <a:latin typeface="Calibri"/>
              </a:rPr>
              <a:t>이 이미지만 보정</a:t>
            </a:r>
            <a:r>
              <a:rPr sz="1350" b="0" i="0">
                <a:solidFill>
                  <a:srgbClr val="1A1F33"/>
                </a:solidFill>
                <a:latin typeface="Calibri"/>
              </a:rPr>
              <a:t> 버튼을 눌러야 세션에 커밋되고 즉시 재검출된다.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65392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B8C"/>
                </a:solidFill>
                <a:latin typeface="Calibri"/>
              </a:rPr>
              <a:t>R Analysis 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56539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B8C"/>
                </a:solidFill>
                <a:latin typeface="Calibri"/>
              </a:rPr>
              <a:t>4/13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E2761"/>
                </a:solidFill>
                <a:latin typeface="Cambria"/>
              </a:rPr>
              <a:t>4단계 — 검출 실행 + 결과 확인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셀 불러오기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075688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검사 설정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94176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ROI 지정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12664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FFB020"/>
          </a:solidFill>
          <a:ln w="15875">
            <a:solidFill>
              <a:srgbClr val="C9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1050" b="1">
                <a:solidFill>
                  <a:srgbClr val="121842"/>
                </a:solidFill>
                <a:latin typeface="Calibri"/>
              </a:rPr>
              <a:t>검출 실행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31152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결과 확인·보정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49640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판정 확인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168128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결과 내보내기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9200" y="1553625"/>
            <a:ext cx="7076880" cy="443655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6_검출결과_마스크표시_an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71625"/>
            <a:ext cx="7040880" cy="44005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818120" y="1417320"/>
            <a:ext cx="39319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1" i="0">
                <a:solidFill>
                  <a:srgbClr val="1A1F33"/>
                </a:solidFill>
                <a:latin typeface="Calibri"/>
              </a:rPr>
              <a:t>현재 이미지 검출 / 선택 셀 전체 일괄 검출 / ▶ 전체 셀 분석</a:t>
            </a:r>
            <a:r>
              <a:rPr sz="1350" b="0" i="0">
                <a:solidFill>
                  <a:srgbClr val="1A1F33"/>
                </a:solidFill>
                <a:latin typeface="Calibri"/>
              </a:rPr>
              <a:t> 중 범위에 맞는 버튼을 누르면 검출 마스크(녹색)가 ROI 안에서 그려진다.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18120" y="3840480"/>
            <a:ext cx="3931920" cy="502920"/>
          </a:xfrm>
          <a:prstGeom prst="roundRect">
            <a:avLst>
              <a:gd name="adj" fmla="val 12000"/>
            </a:avLst>
          </a:prstGeom>
          <a:solidFill>
            <a:srgbClr val="EAEFFA"/>
          </a:solidFill>
          <a:ln w="12700">
            <a:solidFill>
              <a:srgbClr val="5B6B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050" i="1">
                <a:solidFill>
                  <a:srgbClr val="1E2761"/>
                </a:solidFill>
                <a:latin typeface="Calibri"/>
              </a:rPr>
              <a:t>⎇ 분기  자동 검출이 꺼지면 이 3개 버튼은 비활성화된다.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565392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B8C"/>
                </a:solidFill>
                <a:latin typeface="Calibri"/>
              </a:rPr>
              <a:t>R Analysis 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0" y="656539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B8C"/>
                </a:solidFill>
                <a:latin typeface="Calibri"/>
              </a:rPr>
              <a:t>5/13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E2761"/>
                </a:solidFill>
                <a:latin typeface="Cambria"/>
              </a:rPr>
              <a:t>5단계 — 불투명도 조절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셀 불러오기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075688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검사 설정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94176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ROI 지정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12664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검출 실행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31152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FFB020"/>
          </a:solidFill>
          <a:ln w="15875">
            <a:solidFill>
              <a:srgbClr val="C9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1050" b="1">
                <a:solidFill>
                  <a:srgbClr val="121842"/>
                </a:solidFill>
                <a:latin typeface="Calibri"/>
              </a:rPr>
              <a:t>결과 확인·보정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49640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판정 확인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168128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결과 내보내기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9200" y="1553625"/>
            <a:ext cx="7076880" cy="443655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7_불투명도조절_an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71625"/>
            <a:ext cx="7040880" cy="44005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818120" y="1417320"/>
            <a:ext cx="39319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 i="0">
                <a:solidFill>
                  <a:srgbClr val="1A1F33"/>
                </a:solidFill>
                <a:latin typeface="Calibri"/>
              </a:rPr>
              <a:t>캔버스 좌하단 </a:t>
            </a:r>
            <a:r>
              <a:rPr sz="1350" b="1" i="0">
                <a:solidFill>
                  <a:srgbClr val="1A1F33"/>
                </a:solidFill>
                <a:latin typeface="Calibri"/>
              </a:rPr>
              <a:t>오버레이 불투명도</a:t>
            </a:r>
            <a:r>
              <a:rPr sz="1350" b="0" i="0">
                <a:solidFill>
                  <a:srgbClr val="1A1F33"/>
                </a:solidFill>
                <a:latin typeface="Calibri"/>
              </a:rPr>
              <a:t> 슬라이더로 마스크 표시 강도를 0~100% 사이에서 실시간 조절한다(디바운스 없음 — 메모리 내 재렌더링뿐).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565392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B8C"/>
                </a:solidFill>
                <a:latin typeface="Calibri"/>
              </a:rPr>
              <a:t>R Analysis 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56539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B8C"/>
                </a:solidFill>
                <a:latin typeface="Calibri"/>
              </a:rPr>
              <a:t>6/13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E2761"/>
                </a:solidFill>
                <a:latin typeface="Cambria"/>
              </a:rPr>
              <a:t>6단계 — 결과 보이기/숨기기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셀 불러오기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075688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검사 설정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94176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ROI 지정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12664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검출 실행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31152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FFB020"/>
          </a:solidFill>
          <a:ln w="15875">
            <a:solidFill>
              <a:srgbClr val="C9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1050" b="1">
                <a:solidFill>
                  <a:srgbClr val="121842"/>
                </a:solidFill>
                <a:latin typeface="Calibri"/>
              </a:rPr>
              <a:t>결과 확인·보정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49640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판정 확인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168128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결과 내보내기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9200" y="2682337"/>
            <a:ext cx="3465000" cy="2179125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8_검출결과_숨김_눈아이콘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00337"/>
            <a:ext cx="3429000" cy="2143125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4051080" y="2682337"/>
            <a:ext cx="3465000" cy="2179125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09_검출결과_다시표시_F키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9080" y="2700337"/>
            <a:ext cx="3429000" cy="214312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818120" y="1417320"/>
            <a:ext cx="39319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 i="0">
                <a:solidFill>
                  <a:srgbClr val="1A1F33"/>
                </a:solidFill>
                <a:latin typeface="Calibri"/>
              </a:rPr>
              <a:t>툴바 우측의 </a:t>
            </a:r>
            <a:r>
              <a:rPr sz="1350" b="1" i="0">
                <a:solidFill>
                  <a:srgbClr val="1A1F33"/>
                </a:solidFill>
                <a:latin typeface="Calibri"/>
              </a:rPr>
              <a:t>눈 아이콘</a:t>
            </a:r>
            <a:r>
              <a:rPr sz="1350" b="0" i="0">
                <a:solidFill>
                  <a:srgbClr val="1A1F33"/>
                </a:solidFill>
                <a:latin typeface="Calibri"/>
              </a:rPr>
              <a:t>을 클릭하거나 캔버스에 포커스가 있을 때 </a:t>
            </a:r>
            <a:r>
              <a:rPr sz="1350" b="1" i="0">
                <a:solidFill>
                  <a:srgbClr val="1A1F33"/>
                </a:solidFill>
                <a:latin typeface="Calibri"/>
              </a:rPr>
              <a:t>F</a:t>
            </a:r>
            <a:r>
              <a:rPr sz="1350" b="0" i="0">
                <a:solidFill>
                  <a:srgbClr val="1A1F33"/>
                </a:solidFill>
                <a:latin typeface="Calibri"/>
              </a:rPr>
              <a:t> 키를 누르면 검출 결과 오버레이를 껐다 켤 수 있다(왼쪽: 숨김 / 오른쪽: 복귀). 면적 계산에는 영향 없는 순수 표시 토글이다.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18120" y="3840480"/>
            <a:ext cx="3931920" cy="384048"/>
          </a:xfrm>
          <a:prstGeom prst="roundRect">
            <a:avLst>
              <a:gd name="adj" fmla="val 12000"/>
            </a:avLst>
          </a:prstGeom>
          <a:solidFill>
            <a:srgbClr val="FFF4DC"/>
          </a:solidFill>
          <a:ln w="12700">
            <a:solidFill>
              <a:srgbClr val="C9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ctr"/>
            <a:r>
              <a:rPr sz="1100">
                <a:solidFill>
                  <a:srgbClr val="7A4F00"/>
                </a:solidFill>
                <a:latin typeface="Calibri"/>
              </a:rPr>
              <a:t>💡 Tip  **F** 키 — 캔버스 포커스 상태에서만 동작.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565392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B8C"/>
                </a:solidFill>
                <a:latin typeface="Calibri"/>
              </a:rPr>
              <a:t>R Analysis 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0" y="656539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B8C"/>
                </a:solidFill>
                <a:latin typeface="Calibri"/>
              </a:rPr>
              <a:t>7/13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E2761"/>
                </a:solidFill>
                <a:latin typeface="Cambria"/>
              </a:rPr>
              <a:t>7단계 — 브러시로 보정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셀 불러오기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075688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검사 설정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94176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ROI 지정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12664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검출 실행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31152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FFB020"/>
          </a:solidFill>
          <a:ln w="15875">
            <a:solidFill>
              <a:srgbClr val="C9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1050" b="1">
                <a:solidFill>
                  <a:srgbClr val="121842"/>
                </a:solidFill>
                <a:latin typeface="Calibri"/>
              </a:rPr>
              <a:t>결과 확인·보정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49640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판정 확인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168128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결과 내보내기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9200" y="1553625"/>
            <a:ext cx="7076880" cy="443655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10_브러시보정_검출결과와_시각통일_an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71625"/>
            <a:ext cx="7040880" cy="44005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818120" y="1417320"/>
            <a:ext cx="39319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 i="0">
                <a:solidFill>
                  <a:srgbClr val="1A1F33"/>
                </a:solidFill>
                <a:latin typeface="Calibri"/>
              </a:rPr>
              <a:t>브러시(그리기)/지우개 도구로 자동 검출이 놓친 부분을 추가하거나 과검출된 부분을 지운다. 커밋한 영역은 검출 마스크와 완전히 동일한 색·불투명도로 통일되어 보인다.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565392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B8C"/>
                </a:solidFill>
                <a:latin typeface="Calibri"/>
              </a:rPr>
              <a:t>R Analysis 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56539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B8C"/>
                </a:solidFill>
                <a:latin typeface="Calibri"/>
              </a:rPr>
              <a:t>8/13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E2761"/>
                </a:solidFill>
                <a:latin typeface="Cambria"/>
              </a:rPr>
              <a:t>8단계 — 분기: 자동 검출 OFF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셀 불러오기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075688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검사 설정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94176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ROI 지정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12664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검출 실행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31152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FFB020"/>
          </a:solidFill>
          <a:ln w="15875">
            <a:solidFill>
              <a:srgbClr val="C9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1050" b="1">
                <a:solidFill>
                  <a:srgbClr val="121842"/>
                </a:solidFill>
                <a:latin typeface="Calibri"/>
              </a:rPr>
              <a:t>결과 확인·보정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49640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판정 확인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168128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결과 내보내기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9200" y="1553625"/>
            <a:ext cx="7076880" cy="443655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11_자동검출OFF_ROI없이_브러시전용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71625"/>
            <a:ext cx="7040880" cy="44005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818120" y="1417320"/>
            <a:ext cx="39319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 i="0">
                <a:solidFill>
                  <a:srgbClr val="1A1F33"/>
                </a:solidFill>
                <a:latin typeface="Calibri"/>
              </a:rPr>
              <a:t>검사 설정에서 "자동 검출 사용"을 끄면 ROI가 있어도 무시하고 자동 검출을 수행하지 않는다. 오직 브러시로 그린 영역만 면적으로 집계된다 — 조명이 불균일하거나 threshold로 깨끗이 분리되지 않는 이미지에 쓴다.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565392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B8C"/>
                </a:solidFill>
                <a:latin typeface="Calibri"/>
              </a:rPr>
              <a:t>R Analysis 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56539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B8C"/>
                </a:solidFill>
                <a:latin typeface="Calibri"/>
              </a:rPr>
              <a:t>9/13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E2761"/>
                </a:solidFill>
                <a:latin typeface="Cambria"/>
              </a:rPr>
              <a:t>9단계 — 셀 단위 R·판정 확인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셀 불러오기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075688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검사 설정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94176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ROI 지정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12664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검출 실행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31152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결과 확인·보정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49640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FFB020"/>
          </a:solidFill>
          <a:ln w="15875">
            <a:solidFill>
              <a:srgbClr val="C9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1050" b="1">
                <a:solidFill>
                  <a:srgbClr val="121842"/>
                </a:solidFill>
                <a:latin typeface="Calibri"/>
              </a:rPr>
              <a:t>판정 확인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168128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결과 내보내기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9200" y="1553625"/>
            <a:ext cx="7076880" cy="443655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12_셀단위_판정_PASS_FAIL_an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71625"/>
            <a:ext cx="7040880" cy="44005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818120" y="1417320"/>
            <a:ext cx="39319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 i="0">
                <a:solidFill>
                  <a:srgbClr val="1A1F33"/>
                </a:solidFill>
                <a:latin typeface="Calibri"/>
              </a:rPr>
              <a:t>셀 안의 모든 이미지 면적을 합산해 `R = 면적합계 / 분모`를 셀당 1번만 계산하고, 스펙 상/하한과 비교해 </a:t>
            </a:r>
            <a:r>
              <a:rPr sz="1350" b="1" i="0">
                <a:solidFill>
                  <a:srgbClr val="1A1F33"/>
                </a:solidFill>
                <a:latin typeface="Calibri"/>
              </a:rPr>
              <a:t>PASS/FAIL</a:t>
            </a:r>
            <a:r>
              <a:rPr sz="1350" b="0" i="0">
                <a:solidFill>
                  <a:srgbClr val="1A1F33"/>
                </a:solidFill>
                <a:latin typeface="Calibri"/>
              </a:rPr>
              <a:t> 배지를 보여준다. 이미지별 개별 판정은 없다.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565392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B8C"/>
                </a:solidFill>
                <a:latin typeface="Calibri"/>
              </a:rPr>
              <a:t>R Analysis 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56539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B8C"/>
                </a:solidFill>
                <a:latin typeface="Calibri"/>
              </a:rPr>
              <a:t>10/13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1E2761"/>
                </a:solidFill>
                <a:latin typeface="Cambria"/>
              </a:rPr>
              <a:t>10단계 — 전체 결과 보기(Excel 내보내기)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셀 불러오기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075688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검사 설정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94176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ROI 지정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12664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검출 실행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31152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결과 확인·보정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49640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E3E8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950" b="0">
                <a:solidFill>
                  <a:srgbClr val="6B768E"/>
                </a:solidFill>
                <a:latin typeface="Calibri"/>
              </a:rPr>
              <a:t>판정 확인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168128" y="841248"/>
            <a:ext cx="1563624" cy="384048"/>
          </a:xfrm>
          <a:prstGeom prst="roundRect">
            <a:avLst>
              <a:gd name="adj" fmla="val 12000"/>
            </a:avLst>
          </a:prstGeom>
          <a:solidFill>
            <a:srgbClr val="FFB020"/>
          </a:solidFill>
          <a:ln w="15875">
            <a:solidFill>
              <a:srgbClr val="C97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000" rIns="10000"/>
          <a:lstStyle/>
          <a:p>
            <a:pPr algn="ctr"/>
            <a:r>
              <a:rPr sz="1050" b="1">
                <a:solidFill>
                  <a:srgbClr val="121842"/>
                </a:solidFill>
                <a:latin typeface="Calibri"/>
              </a:rPr>
              <a:t>결과 내보내기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9200" y="1406940"/>
            <a:ext cx="7076880" cy="4729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DC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13_전체결과보기_배치다이얼로그_an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24940"/>
            <a:ext cx="7040880" cy="46939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818120" y="1417320"/>
            <a:ext cx="39319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 i="0">
                <a:solidFill>
                  <a:srgbClr val="1A1F33"/>
                </a:solidFill>
                <a:latin typeface="Calibri"/>
              </a:rPr>
              <a:t>우측 패널 하단 </a:t>
            </a:r>
            <a:r>
              <a:rPr sz="1350" b="1" i="0">
                <a:solidFill>
                  <a:srgbClr val="1A1F33"/>
                </a:solidFill>
                <a:latin typeface="Calibri"/>
              </a:rPr>
              <a:t>전체 결과 보기 (Excel)</a:t>
            </a:r>
            <a:r>
              <a:rPr sz="1350" b="0" i="0">
                <a:solidFill>
                  <a:srgbClr val="1A1F33"/>
                </a:solidFill>
                <a:latin typeface="Calibri"/>
              </a:rPr>
              <a:t> 버튼을 누르면 모든 셀의 요약과 이미지별 참고 데이터를 담은 다이얼로그가 뜨고, 여기서 `.xlsx`로 바로 내보낼 수 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565392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B8C"/>
                </a:solidFill>
                <a:latin typeface="Calibri"/>
              </a:rPr>
              <a:t>R Analysis 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56539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B8C"/>
                </a:solidFill>
                <a:latin typeface="Calibri"/>
              </a:rPr>
              <a:t>11/13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1E2761"/>
                </a:solidFill>
                <a:latin typeface="Cambria"/>
              </a:rPr>
              <a:t>R Analysis 탭 — 전체 흐름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554480"/>
            <a:ext cx="1417320" cy="82296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셀 불러오기</a:t>
            </a:r>
          </a:p>
        </p:txBody>
      </p:sp>
      <p:sp>
        <p:nvSpPr>
          <p:cNvPr id="4" name="Right Arrow 3"/>
          <p:cNvSpPr/>
          <p:nvPr/>
        </p:nvSpPr>
        <p:spPr>
          <a:xfrm>
            <a:off x="1874520" y="1874520"/>
            <a:ext cx="225552" cy="182880"/>
          </a:xfrm>
          <a:prstGeom prst="rightArrow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100072" y="1554480"/>
            <a:ext cx="1417320" cy="82296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검사 설정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517392" y="1874520"/>
            <a:ext cx="225552" cy="182880"/>
          </a:xfrm>
          <a:prstGeom prst="rightArrow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742944" y="1554480"/>
            <a:ext cx="1417320" cy="82296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ROI 지정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160264" y="1874520"/>
            <a:ext cx="225552" cy="182880"/>
          </a:xfrm>
          <a:prstGeom prst="rightArrow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385816" y="1554480"/>
            <a:ext cx="1417320" cy="82296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검출 실행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803136" y="1874520"/>
            <a:ext cx="225552" cy="182880"/>
          </a:xfrm>
          <a:prstGeom prst="rightArrow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028688" y="1554480"/>
            <a:ext cx="1417320" cy="82296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결과 확인·보정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446008" y="1874520"/>
            <a:ext cx="225552" cy="182880"/>
          </a:xfrm>
          <a:prstGeom prst="rightArrow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671560" y="1554480"/>
            <a:ext cx="1417320" cy="82296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판정 확인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10088880" y="1874520"/>
            <a:ext cx="225552" cy="182880"/>
          </a:xfrm>
          <a:prstGeom prst="rightArrow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314432" y="1554480"/>
            <a:ext cx="1417320" cy="822960"/>
          </a:xfrm>
          <a:prstGeom prst="roundRect">
            <a:avLst>
              <a:gd name="adj" fmla="val 12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결과 내보내기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25752" y="2788920"/>
            <a:ext cx="1965960" cy="868680"/>
          </a:xfrm>
          <a:prstGeom prst="roundRect">
            <a:avLst>
              <a:gd name="adj" fmla="val 12000"/>
            </a:avLst>
          </a:prstGeom>
          <a:solidFill>
            <a:srgbClr val="EAEFFA"/>
          </a:solidFill>
          <a:ln w="12700">
            <a:solidFill>
              <a:srgbClr val="5B6B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50" i="1">
                <a:solidFill>
                  <a:srgbClr val="1E2761"/>
                </a:solidFill>
                <a:latin typeface="Calibri"/>
              </a:rPr>
              <a:t>자동 검출 OFF → ROI 불필요, 브러시 전용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808732" y="2377440"/>
            <a:ext cx="0" cy="411480"/>
          </a:xfrm>
          <a:prstGeom prst="line">
            <a:avLst/>
          </a:prstGeom>
          <a:ln w="12700">
            <a:solidFill>
              <a:srgbClr val="5B6B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57200" y="6565392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B8C"/>
                </a:solidFill>
                <a:latin typeface="Calibri"/>
              </a:rPr>
              <a:t>R Analysis 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56539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B8C"/>
                </a:solidFill>
                <a:latin typeface="Calibri"/>
              </a:rPr>
              <a:t>12/13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1E2761"/>
                </a:solidFill>
                <a:latin typeface="Cambria"/>
              </a:rPr>
              <a:t>R Analysis 탭 — 추천 파라미터 / 설정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960120"/>
          <a:ext cx="11274551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4910"/>
                <a:gridCol w="2442819"/>
                <a:gridCol w="6576822"/>
              </a:tblGrid>
              <a:tr h="6858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항목</a:t>
                      </a:r>
                    </a:p>
                  </a:txBody>
                  <a:tcPr anchor="ctr" marL="73152" marR="7315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코드 기본값</a:t>
                      </a:r>
                    </a:p>
                  </a:txBody>
                  <a:tcPr anchor="ctr" marL="73152" marR="73152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권장 사용 시나리오</a:t>
                      </a:r>
                    </a:p>
                  </a:txBody>
                  <a:tcPr anchor="ctr" marL="73152" marR="73152">
                    <a:solidFill>
                      <a:srgbClr val="1E2761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F33"/>
                          </a:solidFill>
                          <a:latin typeface="Calibri"/>
                        </a:rPr>
                        <a:t>Threshold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F33"/>
                          </a:solidFill>
                          <a:latin typeface="Calibri"/>
                        </a:rPr>
                        <a:t>128 (0~255)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F33"/>
                          </a:solidFill>
                          <a:latin typeface="Calibri"/>
                        </a:rPr>
                        <a:t>기본값에서 '현재 이미지 검출'로 먼저 확인 후 배경/타겟 밝기에 맞춰 조정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F33"/>
                          </a:solidFill>
                          <a:latin typeface="Calibri"/>
                        </a:rPr>
                        <a:t>분모(denominator)</a:t>
                      </a:r>
                    </a:p>
                  </a:txBody>
                  <a:tcPr anchor="ctr" marL="73152" marR="73152" marT="36576" marB="36576">
                    <a:solidFill>
                      <a:srgbClr val="F0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F33"/>
                          </a:solidFill>
                          <a:latin typeface="Calibri"/>
                        </a:rPr>
                        <a:t>0.0</a:t>
                      </a:r>
                    </a:p>
                  </a:txBody>
                  <a:tcPr anchor="ctr" marL="73152" marR="73152" marT="36576" marB="36576">
                    <a:solidFill>
                      <a:srgbClr val="F0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F33"/>
                          </a:solidFill>
                          <a:latin typeface="Calibri"/>
                        </a:rPr>
                        <a:t>0이면 ratio 미계산(N/A) — 검사 전 반드시 실제 기준값으로 설정</a:t>
                      </a:r>
                    </a:p>
                  </a:txBody>
                  <a:tcPr anchor="ctr" marL="73152" marR="73152" marT="36576" marB="36576">
                    <a:solidFill>
                      <a:srgbClr val="F0F3FA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F33"/>
                          </a:solidFill>
                          <a:latin typeface="Calibri"/>
                        </a:rPr>
                        <a:t>스펙 하한/상한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F33"/>
                          </a:solidFill>
                          <a:latin typeface="Calibri"/>
                        </a:rPr>
                        <a:t>0.0 / 0.0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F33"/>
                          </a:solidFill>
                          <a:latin typeface="Calibri"/>
                        </a:rPr>
                        <a:t>설정 전엔 사실상 의미 없음 — 실제 불량 기준(R비율)에 맞춰 조정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F33"/>
                          </a:solidFill>
                          <a:latin typeface="Calibri"/>
                        </a:rPr>
                        <a:t>자동 검출(auto_detect)</a:t>
                      </a:r>
                    </a:p>
                  </a:txBody>
                  <a:tcPr anchor="ctr" marL="73152" marR="73152" marT="36576" marB="36576">
                    <a:solidFill>
                      <a:srgbClr val="F0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F33"/>
                          </a:solidFill>
                          <a:latin typeface="Calibri"/>
                        </a:rPr>
                        <a:t>켜짐</a:t>
                      </a:r>
                    </a:p>
                  </a:txBody>
                  <a:tcPr anchor="ctr" marL="73152" marR="73152" marT="36576" marB="36576">
                    <a:solidFill>
                      <a:srgbClr val="F0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F33"/>
                          </a:solidFill>
                          <a:latin typeface="Calibri"/>
                        </a:rPr>
                        <a:t>대비 뚜렷하면 켜짐(고속 일괄), 불균일/불규칙 형태면 꺼서 브러시로 수동 지정</a:t>
                      </a:r>
                    </a:p>
                  </a:txBody>
                  <a:tcPr anchor="ctr" marL="73152" marR="73152" marT="36576" marB="36576">
                    <a:solidFill>
                      <a:srgbClr val="F0F3FA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F33"/>
                          </a:solidFill>
                          <a:latin typeface="Calibri"/>
                        </a:rPr>
                        <a:t>오버레이 불투명도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F33"/>
                          </a:solidFill>
                          <a:latin typeface="Calibri"/>
                        </a:rPr>
                        <a:t>90/255 ≈ 35%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F33"/>
                          </a:solidFill>
                          <a:latin typeface="Calibri"/>
                        </a:rPr>
                        <a:t>경계 보정 시 70~90%, 디테일 확인 시 20% 이하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F33"/>
                          </a:solidFill>
                          <a:latin typeface="Calibri"/>
                        </a:rPr>
                        <a:t>브러시 크기</a:t>
                      </a:r>
                    </a:p>
                  </a:txBody>
                  <a:tcPr anchor="ctr" marL="73152" marR="73152" marT="36576" marB="36576">
                    <a:solidFill>
                      <a:srgbClr val="F0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F33"/>
                          </a:solidFill>
                          <a:latin typeface="Calibri"/>
                        </a:rPr>
                        <a:t>30px</a:t>
                      </a:r>
                    </a:p>
                  </a:txBody>
                  <a:tcPr anchor="ctr" marL="73152" marR="73152" marT="36576" marB="36576">
                    <a:solidFill>
                      <a:srgbClr val="F0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F33"/>
                          </a:solidFill>
                          <a:latin typeface="Calibri"/>
                        </a:rPr>
                        <a:t>큰 영역 40~60px, 경계 미세 보정 10~15px</a:t>
                      </a:r>
                    </a:p>
                  </a:txBody>
                  <a:tcPr anchor="ctr" marL="73152" marR="73152" marT="36576" marB="36576">
                    <a:solidFill>
                      <a:srgbClr val="F0F3FA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A1F33"/>
                          </a:solidFill>
                          <a:latin typeface="Calibri"/>
                        </a:rPr>
                        <a:t>최소 contour 면적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A1F33"/>
                          </a:solidFill>
                          <a:latin typeface="Calibri"/>
                        </a:rPr>
                        <a:t>4.0px² (고정)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A1F33"/>
                          </a:solidFill>
                          <a:latin typeface="Calibri"/>
                        </a:rPr>
                        <a:t>1px 수준 이진화 노이즈 제거용 — UI 미노출</a:t>
                      </a:r>
                    </a:p>
                  </a:txBody>
                  <a:tcPr anchor="ctr"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565392"/>
            <a:ext cx="5486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B8C"/>
                </a:solidFill>
                <a:latin typeface="Calibri"/>
              </a:rPr>
              <a:t>R Analysis 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56539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B8C"/>
                </a:solidFill>
                <a:latin typeface="Calibri"/>
              </a:rPr>
              <a:t>13/13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